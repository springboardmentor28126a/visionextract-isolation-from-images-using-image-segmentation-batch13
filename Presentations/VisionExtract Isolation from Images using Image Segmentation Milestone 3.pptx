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Poppins" panose="020B0604020202020204" charset="0"/>
      <p:regular r:id="rId31"/>
    </p:embeddedFont>
    <p:embeddedFont>
      <p:font typeface="Poppins Bold" panose="020B0604020202020204" charset="0"/>
      <p:regular r:id="rId32"/>
    </p:embeddedFont>
    <p:embeddedFont>
      <p:font typeface="League Spartan" panose="020B0604020202020204" charset="0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Roboto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564349" y="1829000"/>
            <a:ext cx="13294443" cy="628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VISIONEXTRACT: ISOLATION FROM IMAGES USING IMAGE SEGMENTATION </a:t>
            </a:r>
          </a:p>
        </p:txBody>
      </p:sp>
      <p:sp>
        <p:nvSpPr>
          <p:cNvPr id="5" name="Freeform 5"/>
          <p:cNvSpPr/>
          <p:nvPr/>
        </p:nvSpPr>
        <p:spPr>
          <a:xfrm>
            <a:off x="-1130303" y="3876923"/>
            <a:ext cx="3086100" cy="2352323"/>
          </a:xfrm>
          <a:custGeom>
            <a:avLst/>
            <a:gdLst/>
            <a:ahLst/>
            <a:cxnLst/>
            <a:rect l="l" t="t" r="r" b="b"/>
            <a:pathLst>
              <a:path w="3086100" h="2352323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7" b="-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67344" y="3876923"/>
            <a:ext cx="3086100" cy="2352323"/>
          </a:xfrm>
          <a:custGeom>
            <a:avLst/>
            <a:gdLst/>
            <a:ahLst/>
            <a:cxnLst/>
            <a:rect l="l" t="t" r="r" b="b"/>
            <a:pathLst>
              <a:path w="3086100" h="2352323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7" b="-7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266861" y="1192130"/>
            <a:ext cx="3754279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06047" y="2431856"/>
            <a:ext cx="10675906" cy="7124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8347" lvl="2" indent="-342782" algn="l">
              <a:lnSpc>
                <a:spcPts val="6298"/>
              </a:lnSpc>
              <a:buFont typeface="Arial"/>
              <a:buChar char="⚬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 of Milestone 1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 of Milestone 2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Milestone 3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Improvements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Inference on new images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Results (U-net)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Proposed Solution</a:t>
            </a:r>
          </a:p>
          <a:p>
            <a:pPr marL="1028242" lvl="2" indent="-342747" algn="l">
              <a:lnSpc>
                <a:spcPts val="6297"/>
              </a:lnSpc>
              <a:buFont typeface="Arial"/>
              <a:buChar char="⚬"/>
            </a:pPr>
            <a:r>
              <a:rPr lang="en-US" sz="44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</a:p>
          <a:p>
            <a:pPr marL="1028347" lvl="2" indent="-342782" algn="l">
              <a:lnSpc>
                <a:spcPts val="6298"/>
              </a:lnSpc>
              <a:buFont typeface="Arial"/>
              <a:buChar char="⚬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 Application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33309" y="185690"/>
            <a:ext cx="6021381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4925" y="9803948"/>
            <a:ext cx="2514600" cy="343864"/>
            <a:chOff x="0" y="0"/>
            <a:chExt cx="662281" cy="905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90565"/>
            </a:xfrm>
            <a:custGeom>
              <a:avLst/>
              <a:gdLst/>
              <a:ahLst/>
              <a:cxnLst/>
              <a:rect l="l" t="t" r="r" b="b"/>
              <a:pathLst>
                <a:path w="662281" h="90565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96812" y="2510239"/>
            <a:ext cx="16494375" cy="67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1: Project Initialization and Dataset Acquisition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Define project objectives and expected results.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Acquire and inspect an appropriate image segmentation dataset with subject mask annotations.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Explore dataset structure and view example images and masks.</a:t>
            </a:r>
          </a:p>
          <a:p>
            <a:pPr algn="l">
              <a:lnSpc>
                <a:spcPts val="4484"/>
              </a:lnSpc>
            </a:pPr>
            <a:endParaRPr lang="en-US" sz="32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84"/>
              </a:lnSpc>
            </a:pP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2: Data Preprocessing and Validation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Develop a preprocessing pipeline (resize, normalization, augmentation).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Ensure correct alignment of images and annotated masks.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Convert multi-class masks (if present) into binary masks identifying only the main subject.</a:t>
            </a:r>
          </a:p>
          <a:p>
            <a:pPr algn="l">
              <a:lnSpc>
                <a:spcPts val="4484"/>
              </a:lnSpc>
              <a:spcBef>
                <a:spcPct val="0"/>
              </a:spcBef>
            </a:pPr>
            <a:endParaRPr lang="en-US" sz="32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4925" y="1168271"/>
            <a:ext cx="1649437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 TO BE COMPLETED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4925" y="363582"/>
            <a:ext cx="16362488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969597" y="9636347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47876" y="2448792"/>
            <a:ext cx="11269148" cy="754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project uses the COCO 2017 segmentation dataset containing over 200,000 labeled images with object segmentation annotations.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dataset includes 80 object classes such as person, car, bicycle, animals, and common everyday objects.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It consists of image folders and JSON annotation files storing class labels, image metadata, and polygon segmentation coordinates.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Dataset structure and class distribution were analyzed by inspecting annotation categories and folder organization.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Sample images, class labels, and corresponding masks were visualized to study segmentation quality.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Image–annotation alignment was verified to ensure accurate mask generation.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901770" y="1195264"/>
            <a:ext cx="3971559" cy="738374"/>
          </a:xfrm>
          <a:custGeom>
            <a:avLst/>
            <a:gdLst/>
            <a:ahLst/>
            <a:cxnLst/>
            <a:rect l="l" t="t" r="r" b="b"/>
            <a:pathLst>
              <a:path w="3971559" h="738374">
                <a:moveTo>
                  <a:pt x="0" y="0"/>
                </a:moveTo>
                <a:lnTo>
                  <a:pt x="3971559" y="0"/>
                </a:lnTo>
                <a:lnTo>
                  <a:pt x="3971559" y="738375"/>
                </a:lnTo>
                <a:lnTo>
                  <a:pt x="0" y="73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9971" y="2133085"/>
            <a:ext cx="3795158" cy="2619883"/>
          </a:xfrm>
          <a:custGeom>
            <a:avLst/>
            <a:gdLst/>
            <a:ahLst/>
            <a:cxnLst/>
            <a:rect l="l" t="t" r="r" b="b"/>
            <a:pathLst>
              <a:path w="3795158" h="2619883">
                <a:moveTo>
                  <a:pt x="0" y="0"/>
                </a:moveTo>
                <a:lnTo>
                  <a:pt x="3795157" y="0"/>
                </a:lnTo>
                <a:lnTo>
                  <a:pt x="3795157" y="2619883"/>
                </a:lnTo>
                <a:lnTo>
                  <a:pt x="0" y="2619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4588405"/>
            <a:ext cx="3717699" cy="2382857"/>
          </a:xfrm>
          <a:custGeom>
            <a:avLst/>
            <a:gdLst/>
            <a:ahLst/>
            <a:cxnLst/>
            <a:rect l="l" t="t" r="r" b="b"/>
            <a:pathLst>
              <a:path w="3717699" h="2382857">
                <a:moveTo>
                  <a:pt x="0" y="0"/>
                </a:moveTo>
                <a:lnTo>
                  <a:pt x="3717699" y="0"/>
                </a:lnTo>
                <a:lnTo>
                  <a:pt x="3717699" y="2382857"/>
                </a:lnTo>
                <a:lnTo>
                  <a:pt x="0" y="23828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7429" y="6944334"/>
            <a:ext cx="3717699" cy="2313966"/>
          </a:xfrm>
          <a:custGeom>
            <a:avLst/>
            <a:gdLst/>
            <a:ahLst/>
            <a:cxnLst/>
            <a:rect l="l" t="t" r="r" b="b"/>
            <a:pathLst>
              <a:path w="3717699" h="2313966">
                <a:moveTo>
                  <a:pt x="0" y="0"/>
                </a:moveTo>
                <a:lnTo>
                  <a:pt x="3717699" y="0"/>
                </a:lnTo>
                <a:lnTo>
                  <a:pt x="3717699" y="2313966"/>
                </a:lnTo>
                <a:lnTo>
                  <a:pt x="0" y="2313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64493" y="813075"/>
            <a:ext cx="4616735" cy="8823272"/>
          </a:xfrm>
          <a:custGeom>
            <a:avLst/>
            <a:gdLst/>
            <a:ahLst/>
            <a:cxnLst/>
            <a:rect l="l" t="t" r="r" b="b"/>
            <a:pathLst>
              <a:path w="4616735" h="8823272">
                <a:moveTo>
                  <a:pt x="0" y="0"/>
                </a:moveTo>
                <a:lnTo>
                  <a:pt x="4616735" y="0"/>
                </a:lnTo>
                <a:lnTo>
                  <a:pt x="4616735" y="8823272"/>
                </a:lnTo>
                <a:lnTo>
                  <a:pt x="0" y="88232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398" r="-7052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22170" y="1469202"/>
            <a:ext cx="1129485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22170" y="532149"/>
            <a:ext cx="112948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 </a:t>
            </a:r>
          </a:p>
        </p:txBody>
      </p:sp>
      <p:sp>
        <p:nvSpPr>
          <p:cNvPr id="14" name="AutoShape 14"/>
          <p:cNvSpPr/>
          <p:nvPr/>
        </p:nvSpPr>
        <p:spPr>
          <a:xfrm flipH="1" flipV="1">
            <a:off x="683543" y="1028700"/>
            <a:ext cx="0" cy="865906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 flipV="1">
            <a:off x="5300278" y="1004668"/>
            <a:ext cx="0" cy="863167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24726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6450" y="806450"/>
            <a:ext cx="6990015" cy="8674100"/>
            <a:chOff x="0" y="0"/>
            <a:chExt cx="1840992" cy="22845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40992" cy="2284537"/>
            </a:xfrm>
            <a:custGeom>
              <a:avLst/>
              <a:gdLst/>
              <a:ahLst/>
              <a:cxnLst/>
              <a:rect l="l" t="t" r="r" b="b"/>
              <a:pathLst>
                <a:path w="1840992" h="2284537">
                  <a:moveTo>
                    <a:pt x="56486" y="0"/>
                  </a:moveTo>
                  <a:lnTo>
                    <a:pt x="1784506" y="0"/>
                  </a:lnTo>
                  <a:cubicBezTo>
                    <a:pt x="1799487" y="0"/>
                    <a:pt x="1813854" y="5951"/>
                    <a:pt x="1824447" y="16544"/>
                  </a:cubicBezTo>
                  <a:cubicBezTo>
                    <a:pt x="1835041" y="27138"/>
                    <a:pt x="1840992" y="41505"/>
                    <a:pt x="1840992" y="56486"/>
                  </a:cubicBezTo>
                  <a:lnTo>
                    <a:pt x="1840992" y="2228051"/>
                  </a:lnTo>
                  <a:cubicBezTo>
                    <a:pt x="1840992" y="2243032"/>
                    <a:pt x="1835041" y="2257399"/>
                    <a:pt x="1824447" y="2267992"/>
                  </a:cubicBezTo>
                  <a:cubicBezTo>
                    <a:pt x="1813854" y="2278586"/>
                    <a:pt x="1799487" y="2284537"/>
                    <a:pt x="1784506" y="2284537"/>
                  </a:cubicBezTo>
                  <a:lnTo>
                    <a:pt x="56486" y="2284537"/>
                  </a:lnTo>
                  <a:cubicBezTo>
                    <a:pt x="41505" y="2284537"/>
                    <a:pt x="27138" y="2278586"/>
                    <a:pt x="16544" y="2267992"/>
                  </a:cubicBezTo>
                  <a:cubicBezTo>
                    <a:pt x="5951" y="2257399"/>
                    <a:pt x="0" y="2243032"/>
                    <a:pt x="0" y="2228051"/>
                  </a:cubicBezTo>
                  <a:lnTo>
                    <a:pt x="0" y="56486"/>
                  </a:lnTo>
                  <a:cubicBezTo>
                    <a:pt x="0" y="41505"/>
                    <a:pt x="5951" y="27138"/>
                    <a:pt x="16544" y="16544"/>
                  </a:cubicBezTo>
                  <a:cubicBezTo>
                    <a:pt x="27138" y="5951"/>
                    <a:pt x="41505" y="0"/>
                    <a:pt x="5648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40992" cy="2332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028700"/>
            <a:ext cx="3057703" cy="4650256"/>
          </a:xfrm>
          <a:custGeom>
            <a:avLst/>
            <a:gdLst/>
            <a:ahLst/>
            <a:cxnLst/>
            <a:rect l="l" t="t" r="r" b="b"/>
            <a:pathLst>
              <a:path w="3057703" h="4650256">
                <a:moveTo>
                  <a:pt x="0" y="0"/>
                </a:moveTo>
                <a:lnTo>
                  <a:pt x="3057703" y="0"/>
                </a:lnTo>
                <a:lnTo>
                  <a:pt x="3057703" y="4650256"/>
                </a:lnTo>
                <a:lnTo>
                  <a:pt x="0" y="4650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09052" y="4578767"/>
            <a:ext cx="3058448" cy="4679533"/>
          </a:xfrm>
          <a:custGeom>
            <a:avLst/>
            <a:gdLst/>
            <a:ahLst/>
            <a:cxnLst/>
            <a:rect l="l" t="t" r="r" b="b"/>
            <a:pathLst>
              <a:path w="3058448" h="4679533">
                <a:moveTo>
                  <a:pt x="0" y="0"/>
                </a:moveTo>
                <a:lnTo>
                  <a:pt x="3058447" y="0"/>
                </a:lnTo>
                <a:lnTo>
                  <a:pt x="3058447" y="4679533"/>
                </a:lnTo>
                <a:lnTo>
                  <a:pt x="0" y="467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96236" y="1659654"/>
            <a:ext cx="968473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SUBJECT ISOLATION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96236" y="718425"/>
            <a:ext cx="9684731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96236" y="3384949"/>
            <a:ext cx="9684731" cy="595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Automatically detects the main subject in an image.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Extracts the subject while removing the background.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Sets all non-subject pixels to black.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Produces a clean cutout image of the original subject.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Supports image editing and media processing workflows.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4925" y="9803948"/>
            <a:ext cx="2514600" cy="343864"/>
            <a:chOff x="0" y="0"/>
            <a:chExt cx="662281" cy="905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90565"/>
            </a:xfrm>
            <a:custGeom>
              <a:avLst/>
              <a:gdLst/>
              <a:ahLst/>
              <a:cxnLst/>
              <a:rect l="l" t="t" r="r" b="b"/>
              <a:pathLst>
                <a:path w="662281" h="90565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452134" y="-102579"/>
            <a:ext cx="4201899" cy="10389579"/>
          </a:xfrm>
          <a:custGeom>
            <a:avLst/>
            <a:gdLst/>
            <a:ahLst/>
            <a:cxnLst/>
            <a:rect l="l" t="t" r="r" b="b"/>
            <a:pathLst>
              <a:path w="4201899" h="10389579">
                <a:moveTo>
                  <a:pt x="0" y="0"/>
                </a:moveTo>
                <a:lnTo>
                  <a:pt x="4201898" y="0"/>
                </a:lnTo>
                <a:lnTo>
                  <a:pt x="4201898" y="10389579"/>
                </a:lnTo>
                <a:lnTo>
                  <a:pt x="0" y="10389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71" r="-2979" b="-24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3225" y="1917661"/>
            <a:ext cx="11654077" cy="823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Dataset Loading Module: 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Imports images and annotation files and links each image with its corresponding segmentation data.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Mask Generation Module: 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Converts polygon annotations into pixel-level segmentation masks for subject extraction.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Preprocessing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Resizes images and masks to a fixed resolution to ensure consistent input dimensions.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Augmentation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Applies transformations such as flipping and brightness adjustment to increase dataset diversity.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Normalization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Scales image pixel values and converts masks into binary format.</a:t>
            </a:r>
          </a:p>
          <a:p>
            <a:pPr algn="l">
              <a:lnSpc>
                <a:spcPts val="3644"/>
              </a:lnSpc>
            </a:pPr>
            <a:endParaRPr lang="en-US" sz="26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4"/>
              </a:lnSpc>
            </a:pPr>
            <a:r>
              <a:rPr lang="en-US" sz="26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Visualization &amp; Output Module:</a:t>
            </a:r>
            <a:r>
              <a:rPr lang="en-US" sz="26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Displays processed results and saves training-ready data for future model development.</a:t>
            </a:r>
          </a:p>
          <a:p>
            <a:pPr algn="l">
              <a:lnSpc>
                <a:spcPts val="3644"/>
              </a:lnSpc>
              <a:spcBef>
                <a:spcPct val="0"/>
              </a:spcBef>
            </a:pPr>
            <a:endParaRPr lang="en-US" sz="26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91914" y="933450"/>
            <a:ext cx="589834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238" y="132080"/>
            <a:ext cx="563457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6238" y="1881801"/>
            <a:ext cx="16535523" cy="4085231"/>
          </a:xfrm>
          <a:custGeom>
            <a:avLst/>
            <a:gdLst/>
            <a:ahLst/>
            <a:cxnLst/>
            <a:rect l="l" t="t" r="r" b="b"/>
            <a:pathLst>
              <a:path w="16535523" h="4085231">
                <a:moveTo>
                  <a:pt x="0" y="0"/>
                </a:moveTo>
                <a:lnTo>
                  <a:pt x="16535524" y="0"/>
                </a:lnTo>
                <a:lnTo>
                  <a:pt x="16535524" y="4085231"/>
                </a:lnTo>
                <a:lnTo>
                  <a:pt x="0" y="4085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8" r="-1268" b="-188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74779"/>
            <a:ext cx="165355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SUBJECT ISOLATION AND 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3409"/>
            <a:ext cx="16230600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3957" y="6299835"/>
            <a:ext cx="16700087" cy="348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Successfully generated segmentation masks from dataset annotations.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Verified correct alignment between original images and masks.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Applied preprocessing pipeline including resizing, normalization, and augmentation.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• Demonstrated subject isolation using binary masks.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4925" y="9803948"/>
            <a:ext cx="2514600" cy="343864"/>
            <a:chOff x="0" y="0"/>
            <a:chExt cx="662281" cy="905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90565"/>
            </a:xfrm>
            <a:custGeom>
              <a:avLst/>
              <a:gdLst/>
              <a:ahLst/>
              <a:cxnLst/>
              <a:rect l="l" t="t" r="r" b="b"/>
              <a:pathLst>
                <a:path w="662281" h="90565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0102" y="2566917"/>
            <a:ext cx="16947797" cy="618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3: Initial Model Training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Implement the initial image segmentation network.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Train the model on the processed data and monitor basic metrics.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Visualize early predictions to verify subject extraction is proceeding as expected.</a:t>
            </a:r>
          </a:p>
          <a:p>
            <a:pPr algn="l">
              <a:lnSpc>
                <a:spcPts val="4484"/>
              </a:lnSpc>
            </a:pPr>
            <a:endParaRPr lang="en-US" sz="32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84"/>
              </a:lnSpc>
            </a:pP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4: Predictions and Fine-tuning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Generate predictions on a validation set.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Examine output images and compare with ground-truth subject masks.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Adjust model hyperparameters and perform data augmentation to improve results.</a:t>
            </a:r>
          </a:p>
          <a:p>
            <a:pPr algn="l">
              <a:lnSpc>
                <a:spcPts val="4484"/>
              </a:lnSpc>
              <a:spcBef>
                <a:spcPct val="0"/>
              </a:spcBef>
            </a:pPr>
            <a:endParaRPr lang="en-US" sz="32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4925" y="1168271"/>
            <a:ext cx="1649437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 TO BE COMPLETED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4925" y="363582"/>
            <a:ext cx="16362488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5156" y="998953"/>
            <a:ext cx="12737687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U-NET MODEL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75156" y="2787663"/>
            <a:ext cx="13322256" cy="647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Encoder–Decoder based architecture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Encoder: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Extracts high-level contextual features through convolution and pooling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Decoder: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Restores spatial resolution using up-sampling layers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Skip Connections: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Transfer fine-grained features from encoder to decoder</a:t>
            </a:r>
          </a:p>
          <a:p>
            <a:pPr marL="914048" lvl="2" indent="-304683" algn="l">
              <a:lnSpc>
                <a:spcPts val="5599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Binary segmentation mask highlighting subject regions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30297" y="-352"/>
            <a:ext cx="3027397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30266" y="5143500"/>
            <a:ext cx="6254391" cy="2832173"/>
            <a:chOff x="0" y="0"/>
            <a:chExt cx="8339188" cy="37762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39201" cy="3776218"/>
            </a:xfrm>
            <a:custGeom>
              <a:avLst/>
              <a:gdLst/>
              <a:ahLst/>
              <a:cxnLst/>
              <a:rect l="l" t="t" r="r" b="b"/>
              <a:pathLst>
                <a:path w="8339201" h="3776218">
                  <a:moveTo>
                    <a:pt x="0" y="0"/>
                  </a:moveTo>
                  <a:lnTo>
                    <a:pt x="8339201" y="0"/>
                  </a:lnTo>
                  <a:lnTo>
                    <a:pt x="8339201" y="3776218"/>
                  </a:lnTo>
                  <a:lnTo>
                    <a:pt x="0" y="377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430266" y="3745344"/>
            <a:ext cx="6254391" cy="883387"/>
            <a:chOff x="0" y="0"/>
            <a:chExt cx="8339188" cy="11778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39201" cy="1177798"/>
            </a:xfrm>
            <a:custGeom>
              <a:avLst/>
              <a:gdLst/>
              <a:ahLst/>
              <a:cxnLst/>
              <a:rect l="l" t="t" r="r" b="b"/>
              <a:pathLst>
                <a:path w="8339201" h="1177798">
                  <a:moveTo>
                    <a:pt x="0" y="0"/>
                  </a:moveTo>
                  <a:lnTo>
                    <a:pt x="8339201" y="0"/>
                  </a:lnTo>
                  <a:lnTo>
                    <a:pt x="8339201" y="1177798"/>
                  </a:lnTo>
                  <a:lnTo>
                    <a:pt x="0" y="1177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560503" y="1006088"/>
            <a:ext cx="9166993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PREPARATION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605469"/>
            <a:ext cx="8653739" cy="629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Used: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COCO 2017 – val2017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Images: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5000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Split:</a:t>
            </a:r>
          </a:p>
          <a:p>
            <a:pPr marL="1429275" lvl="3" indent="-357319" algn="l">
              <a:lnSpc>
                <a:spcPts val="4898"/>
              </a:lnSpc>
              <a:buFont typeface="Arial"/>
              <a:buChar char="￭"/>
            </a:pPr>
            <a:r>
              <a:rPr lang="en-US" sz="3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Training: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70% (3500 images)</a:t>
            </a:r>
          </a:p>
          <a:p>
            <a:pPr marL="1429275" lvl="3" indent="-357319" algn="l">
              <a:lnSpc>
                <a:spcPts val="4898"/>
              </a:lnSpc>
              <a:buFont typeface="Arial"/>
              <a:buChar char="￭"/>
            </a:pPr>
            <a:r>
              <a:rPr lang="en-US" sz="3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15% (750 images)</a:t>
            </a:r>
          </a:p>
          <a:p>
            <a:pPr marL="1429275" lvl="3" indent="-357319" algn="l">
              <a:lnSpc>
                <a:spcPts val="4898"/>
              </a:lnSpc>
              <a:buFont typeface="Arial"/>
              <a:buChar char="￭"/>
            </a:pPr>
            <a:r>
              <a:rPr lang="en-US" sz="3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15% (750 images)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shuffling ensured unbiased data distribution</a:t>
            </a:r>
          </a:p>
          <a:p>
            <a:pPr marL="799749" lvl="2" indent="-266583" algn="l">
              <a:lnSpc>
                <a:spcPts val="4899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Ground-truth masks used for supervised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30297" y="-352"/>
            <a:ext cx="3027397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83972" y="3157595"/>
            <a:ext cx="7146950" cy="5379072"/>
            <a:chOff x="0" y="0"/>
            <a:chExt cx="9529267" cy="7172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29318" cy="7172071"/>
            </a:xfrm>
            <a:custGeom>
              <a:avLst/>
              <a:gdLst/>
              <a:ahLst/>
              <a:cxnLst/>
              <a:rect l="l" t="t" r="r" b="b"/>
              <a:pathLst>
                <a:path w="9529318" h="7172071">
                  <a:moveTo>
                    <a:pt x="0" y="0"/>
                  </a:moveTo>
                  <a:lnTo>
                    <a:pt x="9529318" y="0"/>
                  </a:lnTo>
                  <a:lnTo>
                    <a:pt x="9529318" y="7172071"/>
                  </a:lnTo>
                  <a:lnTo>
                    <a:pt x="0" y="7172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995" b="-3499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955397" y="3129020"/>
            <a:ext cx="7204100" cy="57150"/>
            <a:chOff x="0" y="0"/>
            <a:chExt cx="9605467" cy="76200"/>
          </a:xfrm>
        </p:grpSpPr>
        <p:sp>
          <p:nvSpPr>
            <p:cNvPr id="12" name="Freeform 12"/>
            <p:cNvSpPr/>
            <p:nvPr/>
          </p:nvSpPr>
          <p:spPr>
            <a:xfrm>
              <a:off x="38100" y="0"/>
              <a:ext cx="9529318" cy="76200"/>
            </a:xfrm>
            <a:custGeom>
              <a:avLst/>
              <a:gdLst/>
              <a:ahLst/>
              <a:cxnLst/>
              <a:rect l="l" t="t" r="r" b="b"/>
              <a:pathLst>
                <a:path w="9529318" h="76200">
                  <a:moveTo>
                    <a:pt x="0" y="0"/>
                  </a:moveTo>
                  <a:lnTo>
                    <a:pt x="9529318" y="0"/>
                  </a:lnTo>
                  <a:lnTo>
                    <a:pt x="952931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955397" y="8489061"/>
            <a:ext cx="7257917" cy="57150"/>
            <a:chOff x="0" y="0"/>
            <a:chExt cx="9677222" cy="76200"/>
          </a:xfrm>
        </p:grpSpPr>
        <p:sp>
          <p:nvSpPr>
            <p:cNvPr id="14" name="Freeform 14"/>
            <p:cNvSpPr/>
            <p:nvPr/>
          </p:nvSpPr>
          <p:spPr>
            <a:xfrm>
              <a:off x="38100" y="0"/>
              <a:ext cx="9601073" cy="76200"/>
            </a:xfrm>
            <a:custGeom>
              <a:avLst/>
              <a:gdLst/>
              <a:ahLst/>
              <a:cxnLst/>
              <a:rect l="l" t="t" r="r" b="b"/>
              <a:pathLst>
                <a:path w="9601073" h="76200">
                  <a:moveTo>
                    <a:pt x="0" y="0"/>
                  </a:moveTo>
                  <a:lnTo>
                    <a:pt x="9601073" y="0"/>
                  </a:lnTo>
                  <a:lnTo>
                    <a:pt x="96010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04699" y="2498731"/>
            <a:ext cx="11678602" cy="506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Loss Function: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Binary Cross-Entropy (BCE)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Optimizer: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Adam Optimizer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Rate: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0.0001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Batch Size: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8</a:t>
            </a:r>
          </a:p>
          <a:p>
            <a:pPr marL="914048" lvl="2" indent="-304683" algn="l">
              <a:lnSpc>
                <a:spcPts val="5598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Training performed over multiple epochs</a:t>
            </a:r>
          </a:p>
          <a:p>
            <a:pPr marL="914048" lvl="2" indent="-304683" algn="l">
              <a:lnSpc>
                <a:spcPts val="5599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Validation loss monitored to track learning progress and avoid overfitting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048763" y="8359226"/>
            <a:ext cx="10190474" cy="1139180"/>
            <a:chOff x="0" y="0"/>
            <a:chExt cx="13587298" cy="15189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87349" cy="1518920"/>
            </a:xfrm>
            <a:custGeom>
              <a:avLst/>
              <a:gdLst/>
              <a:ahLst/>
              <a:cxnLst/>
              <a:rect l="l" t="t" r="r" b="b"/>
              <a:pathLst>
                <a:path w="13587349" h="1518920">
                  <a:moveTo>
                    <a:pt x="0" y="0"/>
                  </a:moveTo>
                  <a:lnTo>
                    <a:pt x="13587349" y="0"/>
                  </a:lnTo>
                  <a:lnTo>
                    <a:pt x="13587349" y="1518920"/>
                  </a:lnTo>
                  <a:lnTo>
                    <a:pt x="0" y="1518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483626" y="1006088"/>
            <a:ext cx="11320748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TRAINING DETAILS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30297" y="-352"/>
            <a:ext cx="3027397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813267" y="8168450"/>
            <a:ext cx="10715444" cy="57150"/>
            <a:chOff x="0" y="0"/>
            <a:chExt cx="14287259" cy="76200"/>
          </a:xfrm>
        </p:grpSpPr>
        <p:sp>
          <p:nvSpPr>
            <p:cNvPr id="8" name="Freeform 8"/>
            <p:cNvSpPr/>
            <p:nvPr/>
          </p:nvSpPr>
          <p:spPr>
            <a:xfrm>
              <a:off x="38100" y="0"/>
              <a:ext cx="14211046" cy="76200"/>
            </a:xfrm>
            <a:custGeom>
              <a:avLst/>
              <a:gdLst/>
              <a:ahLst/>
              <a:cxnLst/>
              <a:rect l="l" t="t" r="r" b="b"/>
              <a:pathLst>
                <a:path w="14211046" h="76200">
                  <a:moveTo>
                    <a:pt x="0" y="0"/>
                  </a:moveTo>
                  <a:lnTo>
                    <a:pt x="14211046" y="0"/>
                  </a:lnTo>
                  <a:lnTo>
                    <a:pt x="142110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813267" y="9631756"/>
            <a:ext cx="10687069" cy="57150"/>
            <a:chOff x="0" y="0"/>
            <a:chExt cx="14249425" cy="76200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14173200" cy="76200"/>
            </a:xfrm>
            <a:custGeom>
              <a:avLst/>
              <a:gdLst/>
              <a:ahLst/>
              <a:cxnLst/>
              <a:rect l="l" t="t" r="r" b="b"/>
              <a:pathLst>
                <a:path w="14173200" h="76200">
                  <a:moveTo>
                    <a:pt x="0" y="0"/>
                  </a:moveTo>
                  <a:lnTo>
                    <a:pt x="14173200" y="0"/>
                  </a:lnTo>
                  <a:lnTo>
                    <a:pt x="14173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841842" y="8168450"/>
            <a:ext cx="10604268" cy="1520723"/>
            <a:chOff x="0" y="0"/>
            <a:chExt cx="14139024" cy="20276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139038" cy="2027682"/>
            </a:xfrm>
            <a:custGeom>
              <a:avLst/>
              <a:gdLst/>
              <a:ahLst/>
              <a:cxnLst/>
              <a:rect l="l" t="t" r="r" b="b"/>
              <a:pathLst>
                <a:path w="14139038" h="2027682">
                  <a:moveTo>
                    <a:pt x="0" y="0"/>
                  </a:moveTo>
                  <a:lnTo>
                    <a:pt x="14139038" y="0"/>
                  </a:lnTo>
                  <a:lnTo>
                    <a:pt x="14139038" y="2027682"/>
                  </a:lnTo>
                  <a:lnTo>
                    <a:pt x="0" y="202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6068" b="-39606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90296" y="3033208"/>
            <a:ext cx="9103328" cy="5827833"/>
            <a:chOff x="0" y="0"/>
            <a:chExt cx="12137771" cy="7770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37771" cy="7770495"/>
            </a:xfrm>
            <a:custGeom>
              <a:avLst/>
              <a:gdLst/>
              <a:ahLst/>
              <a:cxnLst/>
              <a:rect l="l" t="t" r="r" b="b"/>
              <a:pathLst>
                <a:path w="12137771" h="7770495">
                  <a:moveTo>
                    <a:pt x="0" y="0"/>
                  </a:moveTo>
                  <a:lnTo>
                    <a:pt x="12137771" y="0"/>
                  </a:lnTo>
                  <a:lnTo>
                    <a:pt x="12137771" y="7770495"/>
                  </a:lnTo>
                  <a:lnTo>
                    <a:pt x="0" y="7770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071698" y="998953"/>
            <a:ext cx="12144604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EVALUATION METRICS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346" y="3213440"/>
            <a:ext cx="8511959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450" lvl="2" indent="-228483" algn="l">
              <a:lnSpc>
                <a:spcPts val="4198"/>
              </a:lnSpc>
              <a:buFont typeface="Arial"/>
              <a:buChar char="⚬"/>
            </a:pPr>
            <a:r>
              <a:rPr lang="en-US" sz="299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Intersection over Union (IoU):</a:t>
            </a: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Measures overlap between predicted and ground-truth masks</a:t>
            </a:r>
          </a:p>
          <a:p>
            <a:pPr marL="685450" lvl="2" indent="-228483" algn="l">
              <a:lnSpc>
                <a:spcPts val="4198"/>
              </a:lnSpc>
              <a:buFont typeface="Arial"/>
              <a:buChar char="⚬"/>
            </a:pPr>
            <a:r>
              <a:rPr lang="en-US" sz="299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Dice Coefficient: </a:t>
            </a: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Evaluates similarity between two segmentation outputs</a:t>
            </a:r>
          </a:p>
          <a:p>
            <a:pPr marL="685450" lvl="2" indent="-228483" algn="l">
              <a:lnSpc>
                <a:spcPts val="4198"/>
              </a:lnSpc>
              <a:buFont typeface="Arial"/>
              <a:buChar char="⚬"/>
            </a:pPr>
            <a:r>
              <a:rPr lang="en-US" sz="299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Pixel-wise Accuracy:</a:t>
            </a: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Computes proportion of correctly classified pixels</a:t>
            </a:r>
          </a:p>
          <a:p>
            <a:pPr marL="685450" lvl="2" indent="-228483" algn="l">
              <a:lnSpc>
                <a:spcPts val="4198"/>
              </a:lnSpc>
            </a:pPr>
            <a:endParaRPr lang="en-US" sz="299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5450" lvl="2" indent="-228483" algn="l">
              <a:lnSpc>
                <a:spcPts val="4198"/>
              </a:lnSpc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metrics collectively assess segmentation quality and reliability.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30297" y="-352"/>
            <a:ext cx="3027397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57694" y="3771900"/>
            <a:ext cx="5791354" cy="1868179"/>
          </a:xfrm>
          <a:custGeom>
            <a:avLst/>
            <a:gdLst/>
            <a:ahLst/>
            <a:cxnLst/>
            <a:rect l="l" t="t" r="r" b="b"/>
            <a:pathLst>
              <a:path w="5791354" h="1868179">
                <a:moveTo>
                  <a:pt x="0" y="0"/>
                </a:moveTo>
                <a:lnTo>
                  <a:pt x="5791354" y="0"/>
                </a:lnTo>
                <a:lnTo>
                  <a:pt x="5791354" y="1868178"/>
                </a:lnTo>
                <a:lnTo>
                  <a:pt x="0" y="186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57694" y="5799515"/>
            <a:ext cx="5791354" cy="2250668"/>
          </a:xfrm>
          <a:custGeom>
            <a:avLst/>
            <a:gdLst/>
            <a:ahLst/>
            <a:cxnLst/>
            <a:rect l="l" t="t" r="r" b="b"/>
            <a:pathLst>
              <a:path w="5791354" h="2250668">
                <a:moveTo>
                  <a:pt x="0" y="0"/>
                </a:moveTo>
                <a:lnTo>
                  <a:pt x="5791354" y="0"/>
                </a:lnTo>
                <a:lnTo>
                  <a:pt x="5791354" y="2250669"/>
                </a:lnTo>
                <a:lnTo>
                  <a:pt x="0" y="2250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07587" y="1046578"/>
            <a:ext cx="14072826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VALIDATION RESULTS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605469"/>
            <a:ext cx="8653739" cy="629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Predicted masks visually compared with ground-truth masks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Observed accurate subject extraction with minor boundary imperfections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Detected noise in complex background regions</a:t>
            </a:r>
          </a:p>
          <a:p>
            <a:pPr marL="799749" lvl="2" indent="-266583" algn="l">
              <a:lnSpc>
                <a:spcPts val="4899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Insights from validation guided fine-tuning decisions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30297" y="-352"/>
            <a:ext cx="3027397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3922385" y="1065628"/>
            <a:ext cx="10443229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FINE-TUNING STRATEGY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224574"/>
            <a:ext cx="8653739" cy="505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Introduced combined loss function (BCE + Dice Loss)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Reduced learning rate for more stable weight updates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Increased training epochs to refine feature learning</a:t>
            </a:r>
          </a:p>
          <a:p>
            <a:pPr marL="799749" lvl="2" indent="-266583" algn="l">
              <a:lnSpc>
                <a:spcPts val="4898"/>
              </a:lnSpc>
              <a:buFont typeface="Arial"/>
              <a:buChar char="⚬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Focused on improving boundary precision and mask smoothness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0297" y="-352"/>
            <a:ext cx="3027397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  <p:sp>
        <p:nvSpPr>
          <p:cNvPr id="15" name="Freeform 2"/>
          <p:cNvSpPr/>
          <p:nvPr/>
        </p:nvSpPr>
        <p:spPr>
          <a:xfrm>
            <a:off x="10657694" y="3771900"/>
            <a:ext cx="5791354" cy="1868179"/>
          </a:xfrm>
          <a:custGeom>
            <a:avLst/>
            <a:gdLst/>
            <a:ahLst/>
            <a:cxnLst/>
            <a:rect l="l" t="t" r="r" b="b"/>
            <a:pathLst>
              <a:path w="5791354" h="1868179">
                <a:moveTo>
                  <a:pt x="0" y="0"/>
                </a:moveTo>
                <a:lnTo>
                  <a:pt x="5791354" y="0"/>
                </a:lnTo>
                <a:lnTo>
                  <a:pt x="5791354" y="1868178"/>
                </a:lnTo>
                <a:lnTo>
                  <a:pt x="0" y="186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3"/>
          <p:cNvSpPr/>
          <p:nvPr/>
        </p:nvSpPr>
        <p:spPr>
          <a:xfrm>
            <a:off x="10657694" y="5799515"/>
            <a:ext cx="5791354" cy="2250668"/>
          </a:xfrm>
          <a:custGeom>
            <a:avLst/>
            <a:gdLst/>
            <a:ahLst/>
            <a:cxnLst/>
            <a:rect l="l" t="t" r="r" b="b"/>
            <a:pathLst>
              <a:path w="5791354" h="2250668">
                <a:moveTo>
                  <a:pt x="0" y="0"/>
                </a:moveTo>
                <a:lnTo>
                  <a:pt x="5791354" y="0"/>
                </a:lnTo>
                <a:lnTo>
                  <a:pt x="5791354" y="2250669"/>
                </a:lnTo>
                <a:lnTo>
                  <a:pt x="0" y="2250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6929" y="2303574"/>
            <a:ext cx="16834142" cy="4213612"/>
            <a:chOff x="0" y="0"/>
            <a:chExt cx="22445523" cy="5618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45472" cy="5618099"/>
            </a:xfrm>
            <a:custGeom>
              <a:avLst/>
              <a:gdLst/>
              <a:ahLst/>
              <a:cxnLst/>
              <a:rect l="l" t="t" r="r" b="b"/>
              <a:pathLst>
                <a:path w="22445472" h="5618099">
                  <a:moveTo>
                    <a:pt x="0" y="0"/>
                  </a:moveTo>
                  <a:lnTo>
                    <a:pt x="22445472" y="0"/>
                  </a:lnTo>
                  <a:lnTo>
                    <a:pt x="22445472" y="5618099"/>
                  </a:lnTo>
                  <a:lnTo>
                    <a:pt x="0" y="561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6" r="-32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179399" y="1030434"/>
            <a:ext cx="9929203" cy="12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SET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45822" y="-10906"/>
            <a:ext cx="2996365" cy="125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33639" y="6888004"/>
            <a:ext cx="11420723" cy="267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2609" lvl="2" indent="-274203" algn="l">
              <a:lnSpc>
                <a:spcPts val="5038"/>
              </a:lnSpc>
              <a:buFont typeface="Arial"/>
              <a:buChar char="⚬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Evaluated model on unseen test dataset (15%)</a:t>
            </a:r>
          </a:p>
          <a:p>
            <a:pPr marL="822609" lvl="2" indent="-274203" algn="l">
              <a:lnSpc>
                <a:spcPts val="5038"/>
              </a:lnSpc>
              <a:buFont typeface="Arial"/>
              <a:buChar char="⚬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Computed IoU, Dice, and Pixel Accuracy</a:t>
            </a:r>
          </a:p>
          <a:p>
            <a:pPr marL="822609" lvl="2" indent="-274203" algn="l">
              <a:lnSpc>
                <a:spcPts val="5038"/>
              </a:lnSpc>
              <a:buFont typeface="Arial"/>
              <a:buChar char="⚬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Confirmed strong generalization capability</a:t>
            </a:r>
          </a:p>
          <a:p>
            <a:pPr marL="822609" lvl="2" indent="-274203" algn="l">
              <a:lnSpc>
                <a:spcPts val="5038"/>
              </a:lnSpc>
              <a:buFont typeface="Arial"/>
              <a:buChar char="⚬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Verified absence of overfitting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4925" y="9803948"/>
            <a:ext cx="2514600" cy="343864"/>
            <a:chOff x="0" y="0"/>
            <a:chExt cx="662281" cy="905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90565"/>
            </a:xfrm>
            <a:custGeom>
              <a:avLst/>
              <a:gdLst/>
              <a:ahLst/>
              <a:cxnLst/>
              <a:rect l="l" t="t" r="r" b="b"/>
              <a:pathLst>
                <a:path w="662281" h="90565">
                  <a:moveTo>
                    <a:pt x="0" y="0"/>
                  </a:moveTo>
                  <a:lnTo>
                    <a:pt x="662281" y="0"/>
                  </a:lnTo>
                  <a:lnTo>
                    <a:pt x="662281" y="90565"/>
                  </a:lnTo>
                  <a:lnTo>
                    <a:pt x="0" y="9056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38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55932" y="2493912"/>
            <a:ext cx="16976135" cy="731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5: Improve Data and Experiment with Architectures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Refine preprocessing, explore further augmentations or post-processing for cleaner masks.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Explore additional model architectures or training strategies for improved subject separation.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Compare variant performance and document findings.</a:t>
            </a:r>
          </a:p>
          <a:p>
            <a:pPr algn="l">
              <a:lnSpc>
                <a:spcPts val="4484"/>
              </a:lnSpc>
            </a:pPr>
            <a:endParaRPr lang="en-US" sz="32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484"/>
              </a:lnSpc>
            </a:pP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 6: Inference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Deploy the trained model for inference on new, unseen images.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32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 the pipeline:</a:t>
            </a: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uploaded input, generate and save the subject isolated output image. </a:t>
            </a:r>
          </a:p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Test with images outside the original dataset to check robustness. </a:t>
            </a:r>
          </a:p>
          <a:p>
            <a:pPr algn="l">
              <a:lnSpc>
                <a:spcPts val="4484"/>
              </a:lnSpc>
              <a:spcBef>
                <a:spcPct val="0"/>
              </a:spcBef>
            </a:pPr>
            <a:endParaRPr lang="en-US" sz="32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4925" y="1168271"/>
            <a:ext cx="1649437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 TO BE COMPLETED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4925" y="363582"/>
            <a:ext cx="16362488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2677" y="989286"/>
            <a:ext cx="10487206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IMPROVEMENTS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197151"/>
            <a:ext cx="16760317" cy="706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enhance segmentation performance, several improvements were introduced.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Additional augmentation techniques were applied to increase dataset diversity.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combined loss function using Binary Cross Entropy and Dice Loss was implemented to improve segmentation accuracy, especially along object boundaries.</a:t>
            </a:r>
          </a:p>
          <a:p>
            <a:pPr marL="914037" lvl="2" indent="-304679" algn="l">
              <a:lnSpc>
                <a:spcPts val="5598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improvements helped the model learn better representations of subject regions and produce more accurate masks.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2677" y="989286"/>
            <a:ext cx="10487206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IMPROVEMENTS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675290"/>
            <a:ext cx="16760317" cy="635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Predicted segmentation masks may contain noise or small artifacts that reduce output quality.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improve mask quality, morphological post-processing operations were applied.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operations include: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closing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opening</a:t>
            </a:r>
          </a:p>
          <a:p>
            <a:pPr marL="914037" lvl="2" indent="-304679" algn="l">
              <a:lnSpc>
                <a:spcPts val="5598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techniques remove small noise regions and smooth the mask boundaries, resulting in cleaner subject extraction.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5" y="2265474"/>
            <a:ext cx="11301259" cy="4478124"/>
          </a:xfrm>
          <a:custGeom>
            <a:avLst/>
            <a:gdLst/>
            <a:ahLst/>
            <a:cxnLst/>
            <a:rect l="l" t="t" r="r" b="b"/>
            <a:pathLst>
              <a:path w="11301259" h="4478124">
                <a:moveTo>
                  <a:pt x="0" y="0"/>
                </a:moveTo>
                <a:lnTo>
                  <a:pt x="11301259" y="0"/>
                </a:lnTo>
                <a:lnTo>
                  <a:pt x="11301259" y="4478123"/>
                </a:lnTo>
                <a:lnTo>
                  <a:pt x="0" y="447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18325" y="1119359"/>
            <a:ext cx="12451360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INFERENCE ON NEW IMAGES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40603" y="84487"/>
            <a:ext cx="5206795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19938" y="6686447"/>
            <a:ext cx="11648134" cy="31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470" lvl="2" indent="-167490" algn="l">
              <a:lnSpc>
                <a:spcPts val="3077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trained model was deployed for inference on new images.</a:t>
            </a:r>
          </a:p>
          <a:p>
            <a:pPr marL="502470" lvl="2" indent="-167490" algn="l">
              <a:lnSpc>
                <a:spcPts val="3077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inference pipeline works as follows:</a:t>
            </a:r>
          </a:p>
          <a:p>
            <a:pPr marL="949110" lvl="2" indent="-316370" algn="l">
              <a:lnSpc>
                <a:spcPts val="3077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User uploads a new image.</a:t>
            </a:r>
          </a:p>
          <a:p>
            <a:pPr marL="949110" lvl="2" indent="-316370" algn="l">
              <a:lnSpc>
                <a:spcPts val="3077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image is resized and normalized.</a:t>
            </a:r>
          </a:p>
          <a:p>
            <a:pPr marL="949110" lvl="2" indent="-316370" algn="l">
              <a:lnSpc>
                <a:spcPts val="3078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trained segmentation model predicts a mask.</a:t>
            </a:r>
          </a:p>
          <a:p>
            <a:pPr marL="949110" lvl="2" indent="-316370" algn="l">
              <a:lnSpc>
                <a:spcPts val="3077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mask identifies subject regions in the image.</a:t>
            </a:r>
          </a:p>
          <a:p>
            <a:pPr marL="949110" lvl="2" indent="-316370" algn="l">
              <a:lnSpc>
                <a:spcPts val="3077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Background pixels are removed to generate the final isolated subject image.</a:t>
            </a:r>
          </a:p>
          <a:p>
            <a:pPr marL="502535" lvl="2" indent="-167512" algn="l">
              <a:lnSpc>
                <a:spcPts val="3078"/>
              </a:lnSpc>
              <a:buFont typeface="Arial"/>
              <a:buChar char="⚬"/>
            </a:pPr>
            <a:r>
              <a:rPr lang="en-US" sz="21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This demonstrates the real-world application of the developed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5" y="2265474"/>
            <a:ext cx="11301259" cy="4478124"/>
          </a:xfrm>
          <a:custGeom>
            <a:avLst/>
            <a:gdLst/>
            <a:ahLst/>
            <a:cxnLst/>
            <a:rect l="l" t="t" r="r" b="b"/>
            <a:pathLst>
              <a:path w="11301259" h="4478124">
                <a:moveTo>
                  <a:pt x="0" y="0"/>
                </a:moveTo>
                <a:lnTo>
                  <a:pt x="11301259" y="0"/>
                </a:lnTo>
                <a:lnTo>
                  <a:pt x="11301259" y="4478123"/>
                </a:lnTo>
                <a:lnTo>
                  <a:pt x="0" y="447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18325" y="1119359"/>
            <a:ext cx="12451360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40603" y="84487"/>
            <a:ext cx="5206795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19938" y="6715022"/>
            <a:ext cx="11648134" cy="320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908" lvl="2" indent="-197969" algn="l">
              <a:lnSpc>
                <a:spcPts val="3637"/>
              </a:lnSpc>
              <a:buFont typeface="Arial"/>
              <a:buChar char="⚬"/>
            </a:pPr>
            <a:r>
              <a:rPr lang="en-US" sz="2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system successfully performs automatic subject isolation.</a:t>
            </a:r>
          </a:p>
          <a:p>
            <a:pPr marL="593908" lvl="2" indent="-197969" algn="l">
              <a:lnSpc>
                <a:spcPts val="3637"/>
              </a:lnSpc>
              <a:buFont typeface="Arial"/>
              <a:buChar char="⚬"/>
            </a:pPr>
            <a:r>
              <a:rPr lang="en-US" sz="2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results include:</a:t>
            </a:r>
          </a:p>
          <a:p>
            <a:pPr marL="1121826" lvl="2" indent="-373942" algn="l">
              <a:lnSpc>
                <a:spcPts val="3637"/>
              </a:lnSpc>
              <a:buFont typeface="Arial"/>
              <a:buChar char="⚬"/>
            </a:pPr>
            <a:r>
              <a:rPr lang="en-US" sz="2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Input image</a:t>
            </a:r>
          </a:p>
          <a:p>
            <a:pPr marL="1121826" lvl="2" indent="-373942" algn="l">
              <a:lnSpc>
                <a:spcPts val="3638"/>
              </a:lnSpc>
              <a:buFont typeface="Arial"/>
              <a:buChar char="⚬"/>
            </a:pPr>
            <a:r>
              <a:rPr lang="en-US" sz="2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Predicted segmentation mask</a:t>
            </a:r>
          </a:p>
          <a:p>
            <a:pPr marL="1121826" lvl="2" indent="-373942" algn="l">
              <a:lnSpc>
                <a:spcPts val="3637"/>
              </a:lnSpc>
              <a:buFont typeface="Arial"/>
              <a:buChar char="⚬"/>
            </a:pPr>
            <a:r>
              <a:rPr lang="en-US" sz="2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Final isolated subject image</a:t>
            </a:r>
          </a:p>
          <a:p>
            <a:pPr marL="593908" lvl="2" indent="-197969" algn="l">
              <a:lnSpc>
                <a:spcPts val="3637"/>
              </a:lnSpc>
              <a:buFont typeface="Arial"/>
              <a:buChar char="⚬"/>
            </a:pPr>
            <a:r>
              <a:rPr lang="en-US" sz="2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Visual results demonstrate that the model can effectively separate subjects from complex backgrounds.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1929" y="989286"/>
            <a:ext cx="9608702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212768"/>
            <a:ext cx="16760317" cy="776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proposes a hybrid segmentation approach combining two powerful models: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Mask R-CNN for object detection and instance segmentation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DeepLabV3 for semantic segmentation and refinement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Workflow: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 all objects in the image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the most relevant object (main subject)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Refine segmentation using DeepLabV3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post-processing to improve mask quality</a:t>
            </a:r>
          </a:p>
          <a:p>
            <a:pPr marL="913945" lvl="2" indent="-304648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approach overcomes limitations of individual models and produces better results.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57075" y="1102641"/>
            <a:ext cx="10373850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212768"/>
            <a:ext cx="16760317" cy="790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7"/>
              </a:lnSpc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Detailed Flow Explanation: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image is provided by the user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Mask R-CNN processes the image: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Detects multiple objects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Generates individual masks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selects the main subject based on confidence score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DeepLabV3 refines the segmentation: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edges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Removes noise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operations clean the mask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output: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Isolated subject image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2292" y="989286"/>
            <a:ext cx="5867974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MASK R-CNN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212768"/>
            <a:ext cx="16760317" cy="790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Mask R-CNN is an advanced deep learning model for instance segmentation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extends Faster R-CNN by adding a mask prediction branch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Outputs: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Bounding boxes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labels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Pixel-level masks for each object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Detects multiple objects in a single image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precise object localization</a:t>
            </a:r>
          </a:p>
          <a:p>
            <a:pPr marL="798402" lvl="1" indent="-399201" algn="l">
              <a:lnSpc>
                <a:spcPts val="5177"/>
              </a:lnSpc>
              <a:buFont typeface="Arial"/>
              <a:buChar char="•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Limitation:</a:t>
            </a:r>
          </a:p>
          <a:p>
            <a:pPr marL="1596804" lvl="2" indent="-532268" algn="l">
              <a:lnSpc>
                <a:spcPts val="5177"/>
              </a:lnSpc>
              <a:buFont typeface="Arial"/>
              <a:buChar char="⚬"/>
            </a:pPr>
            <a:r>
              <a:rPr lang="en-US" sz="3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Does not refine edges perfectly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13205" y="989286"/>
            <a:ext cx="5046148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DEEPLABV3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411140"/>
            <a:ext cx="16760317" cy="706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DeepLabV3 is a semantic segmentation model</a:t>
            </a:r>
          </a:p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classifies each pixel into a specific class</a:t>
            </a:r>
          </a:p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Atrous Convolution to capture multi-scale context</a:t>
            </a:r>
          </a:p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Advantages: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Produces smooth and accurate segmentation maps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complex scenes effectively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Pixel-level masks for each object</a:t>
            </a:r>
          </a:p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Limitation: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distinguish between multiple objects of the same class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5733" y="6017448"/>
            <a:ext cx="10122409" cy="3947739"/>
          </a:xfrm>
          <a:custGeom>
            <a:avLst/>
            <a:gdLst/>
            <a:ahLst/>
            <a:cxnLst/>
            <a:rect l="l" t="t" r="r" b="b"/>
            <a:pathLst>
              <a:path w="10122409" h="3947739">
                <a:moveTo>
                  <a:pt x="0" y="0"/>
                </a:moveTo>
                <a:lnTo>
                  <a:pt x="10122409" y="0"/>
                </a:lnTo>
                <a:lnTo>
                  <a:pt x="10122409" y="3947739"/>
                </a:lnTo>
                <a:lnTo>
                  <a:pt x="0" y="3947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55733" y="989286"/>
            <a:ext cx="3761092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  <p:sp>
        <p:nvSpPr>
          <p:cNvPr id="5" name="Freeform 5"/>
          <p:cNvSpPr/>
          <p:nvPr/>
        </p:nvSpPr>
        <p:spPr>
          <a:xfrm>
            <a:off x="525666" y="2100358"/>
            <a:ext cx="9885401" cy="3917090"/>
          </a:xfrm>
          <a:custGeom>
            <a:avLst/>
            <a:gdLst/>
            <a:ahLst/>
            <a:cxnLst/>
            <a:rect l="l" t="t" r="r" b="b"/>
            <a:pathLst>
              <a:path w="9885401" h="3917090">
                <a:moveTo>
                  <a:pt x="0" y="0"/>
                </a:moveTo>
                <a:lnTo>
                  <a:pt x="9885401" y="0"/>
                </a:lnTo>
                <a:lnTo>
                  <a:pt x="9885401" y="3917090"/>
                </a:lnTo>
                <a:lnTo>
                  <a:pt x="0" y="3917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5733" y="6017448"/>
            <a:ext cx="10122409" cy="3947739"/>
          </a:xfrm>
          <a:custGeom>
            <a:avLst/>
            <a:gdLst/>
            <a:ahLst/>
            <a:cxnLst/>
            <a:rect l="l" t="t" r="r" b="b"/>
            <a:pathLst>
              <a:path w="10122409" h="3947739">
                <a:moveTo>
                  <a:pt x="0" y="0"/>
                </a:moveTo>
                <a:lnTo>
                  <a:pt x="10122409" y="0"/>
                </a:lnTo>
                <a:lnTo>
                  <a:pt x="10122409" y="3947739"/>
                </a:lnTo>
                <a:lnTo>
                  <a:pt x="0" y="3947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55733" y="989286"/>
            <a:ext cx="3761092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  <p:sp>
        <p:nvSpPr>
          <p:cNvPr id="5" name="Freeform 5"/>
          <p:cNvSpPr/>
          <p:nvPr/>
        </p:nvSpPr>
        <p:spPr>
          <a:xfrm>
            <a:off x="525666" y="2100358"/>
            <a:ext cx="9885401" cy="3917090"/>
          </a:xfrm>
          <a:custGeom>
            <a:avLst/>
            <a:gdLst/>
            <a:ahLst/>
            <a:cxnLst/>
            <a:rect l="l" t="t" r="r" b="b"/>
            <a:pathLst>
              <a:path w="9885401" h="3917090">
                <a:moveTo>
                  <a:pt x="0" y="0"/>
                </a:moveTo>
                <a:lnTo>
                  <a:pt x="9885401" y="0"/>
                </a:lnTo>
                <a:lnTo>
                  <a:pt x="9885401" y="3917090"/>
                </a:lnTo>
                <a:lnTo>
                  <a:pt x="0" y="3917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82908" y="989286"/>
            <a:ext cx="8106743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 APPLICATION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3841" y="2411140"/>
            <a:ext cx="16760317" cy="706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an interactive interface using Gradio</a:t>
            </a:r>
          </a:p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Features: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Upload image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 image using AI model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Display output instantly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result</a:t>
            </a:r>
          </a:p>
          <a:p>
            <a:pPr marL="863170" lvl="1" indent="-431585" algn="l">
              <a:lnSpc>
                <a:spcPts val="5597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Benefits: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User-friendly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interaction</a:t>
            </a:r>
          </a:p>
          <a:p>
            <a:pPr marL="1726341" lvl="2" indent="-575447" algn="l">
              <a:lnSpc>
                <a:spcPts val="5597"/>
              </a:lnSpc>
              <a:buFont typeface="Arial"/>
              <a:buChar char="⚬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deployment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6794" y="2100358"/>
            <a:ext cx="14574411" cy="7651566"/>
          </a:xfrm>
          <a:custGeom>
            <a:avLst/>
            <a:gdLst/>
            <a:ahLst/>
            <a:cxnLst/>
            <a:rect l="l" t="t" r="r" b="b"/>
            <a:pathLst>
              <a:path w="14574411" h="7651566">
                <a:moveTo>
                  <a:pt x="0" y="0"/>
                </a:moveTo>
                <a:lnTo>
                  <a:pt x="14574412" y="0"/>
                </a:lnTo>
                <a:lnTo>
                  <a:pt x="14574412" y="7651566"/>
                </a:lnTo>
                <a:lnTo>
                  <a:pt x="0" y="7651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82908" y="989286"/>
            <a:ext cx="8106743" cy="111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45046" y="-7487"/>
            <a:ext cx="5182467" cy="112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45" b="-924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98497" y="2943377"/>
            <a:ext cx="5245103" cy="1513608"/>
          </a:xfrm>
          <a:custGeom>
            <a:avLst/>
            <a:gdLst/>
            <a:ahLst/>
            <a:cxnLst/>
            <a:rect l="l" t="t" r="r" b="b"/>
            <a:pathLst>
              <a:path w="5245103" h="1513608">
                <a:moveTo>
                  <a:pt x="0" y="0"/>
                </a:moveTo>
                <a:lnTo>
                  <a:pt x="5245103" y="0"/>
                </a:lnTo>
                <a:lnTo>
                  <a:pt x="5245103" y="1513609"/>
                </a:lnTo>
                <a:lnTo>
                  <a:pt x="0" y="1513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1" r="-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41403" y="2943377"/>
            <a:ext cx="5118097" cy="1513608"/>
          </a:xfrm>
          <a:custGeom>
            <a:avLst/>
            <a:gdLst/>
            <a:ahLst/>
            <a:cxnLst/>
            <a:rect l="l" t="t" r="r" b="b"/>
            <a:pathLst>
              <a:path w="5118097" h="1513608">
                <a:moveTo>
                  <a:pt x="0" y="0"/>
                </a:moveTo>
                <a:lnTo>
                  <a:pt x="5118097" y="0"/>
                </a:lnTo>
                <a:lnTo>
                  <a:pt x="5118097" y="1513609"/>
                </a:lnTo>
                <a:lnTo>
                  <a:pt x="0" y="1513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l="-33" r="-3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933293" y="2905849"/>
            <a:ext cx="8421405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7616828" y="6524777"/>
            <a:ext cx="3054353" cy="942108"/>
          </a:xfrm>
          <a:custGeom>
            <a:avLst/>
            <a:gdLst/>
            <a:ahLst/>
            <a:cxnLst/>
            <a:rect l="l" t="t" r="r" b="b"/>
            <a:pathLst>
              <a:path w="3054353" h="942108">
                <a:moveTo>
                  <a:pt x="0" y="0"/>
                </a:moveTo>
                <a:lnTo>
                  <a:pt x="3054353" y="0"/>
                </a:lnTo>
                <a:lnTo>
                  <a:pt x="3054353" y="942109"/>
                </a:lnTo>
                <a:lnTo>
                  <a:pt x="0" y="942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l="-5" r="-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1410</Words>
  <Application>Microsoft Office PowerPoint</Application>
  <PresentationFormat>Custom</PresentationFormat>
  <Paragraphs>241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Poppins</vt:lpstr>
      <vt:lpstr>Poppins Bold</vt:lpstr>
      <vt:lpstr>League Spartan</vt:lpstr>
      <vt:lpstr>Calibri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2</dc:title>
  <cp:lastModifiedBy>Microsoft account</cp:lastModifiedBy>
  <cp:revision>2</cp:revision>
  <dcterms:created xsi:type="dcterms:W3CDTF">2006-08-16T00:00:00Z</dcterms:created>
  <dcterms:modified xsi:type="dcterms:W3CDTF">2026-03-17T13:30:37Z</dcterms:modified>
  <dc:identifier>DAHEGlCIgdw</dc:identifier>
</cp:coreProperties>
</file>