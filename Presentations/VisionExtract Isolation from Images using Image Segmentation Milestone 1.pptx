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League Spartan" charset="1" panose="00000800000000000000"/>
      <p:regular r:id="rId21"/>
    </p:embeddedFont>
    <p:embeddedFont>
      <p:font typeface="Poppins" charset="1" panose="00000500000000000000"/>
      <p:regular r:id="rId22"/>
    </p:embeddedFont>
    <p:embeddedFont>
      <p:font typeface="Roboto" charset="1" panose="02000000000000000000"/>
      <p:regular r:id="rId23"/>
    </p:embeddedFont>
    <p:embeddedFont>
      <p:font typeface="Poppins Bold" charset="1" panose="000008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64351" y="2152851"/>
            <a:ext cx="13294441" cy="5965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b="true" sz="8499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VISIONEXTRACT: ISOLATION FROM IMAGES USING IMAGE SEGMENTATION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1130300" y="4057750"/>
            <a:ext cx="3086100" cy="2171499"/>
            <a:chOff x="0" y="0"/>
            <a:chExt cx="812800" cy="571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467343" y="4057750"/>
            <a:ext cx="3086100" cy="2171499"/>
            <a:chOff x="0" y="0"/>
            <a:chExt cx="812800" cy="57191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08043" y="0"/>
            <a:ext cx="6379957" cy="10287000"/>
            <a:chOff x="0" y="0"/>
            <a:chExt cx="1680318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80318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80318">
                  <a:moveTo>
                    <a:pt x="0" y="0"/>
                  </a:moveTo>
                  <a:lnTo>
                    <a:pt x="1680318" y="0"/>
                  </a:lnTo>
                  <a:lnTo>
                    <a:pt x="168031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680318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640583" y="1606753"/>
            <a:ext cx="1868266" cy="186826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817873" y="1646352"/>
            <a:ext cx="4908029" cy="150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COCO dataset explored and processed into pixel-level segmentation masks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17873" y="4124566"/>
            <a:ext cx="4908029" cy="199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Preprocessing pipeline including resizing, normalization, and augmentation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17873" y="6851581"/>
            <a:ext cx="4908029" cy="199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Visual results confirm correct subject isolation and preprocessing automation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640583" y="4210291"/>
            <a:ext cx="1868266" cy="186826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640583" y="6811982"/>
            <a:ext cx="1868266" cy="186826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4446160" y="141605"/>
            <a:ext cx="424338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279"/>
              </a:lnSpc>
            </a:pPr>
            <a:r>
              <a:rPr lang="en-US" b="true" sz="5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ABSTRACT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755298" y="1901472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755298" y="4495485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b="true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755298" y="7097732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593666" y="1646352"/>
            <a:ext cx="5948366" cy="150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Automated image segmentation pipeline developed for subject isolation using binary masks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593666" y="4345140"/>
            <a:ext cx="5948366" cy="150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Accurate linking of images with annotations and verification of mask alignment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593666" y="6851581"/>
            <a:ext cx="5948366" cy="150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Dataset split into training and validation sets for model readiness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608814" y="1110371"/>
            <a:ext cx="4145036" cy="4228702"/>
            <a:chOff x="0" y="0"/>
            <a:chExt cx="1091697" cy="111373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1697" cy="1113732"/>
            </a:xfrm>
            <a:custGeom>
              <a:avLst/>
              <a:gdLst/>
              <a:ahLst/>
              <a:cxnLst/>
              <a:rect r="r" b="b" t="t" l="l"/>
              <a:pathLst>
                <a:path h="1113732" w="1091697">
                  <a:moveTo>
                    <a:pt x="95256" y="0"/>
                  </a:moveTo>
                  <a:lnTo>
                    <a:pt x="996441" y="0"/>
                  </a:lnTo>
                  <a:cubicBezTo>
                    <a:pt x="1021704" y="0"/>
                    <a:pt x="1045933" y="10036"/>
                    <a:pt x="1063797" y="27900"/>
                  </a:cubicBezTo>
                  <a:cubicBezTo>
                    <a:pt x="1081661" y="45764"/>
                    <a:pt x="1091697" y="69992"/>
                    <a:pt x="1091697" y="95256"/>
                  </a:cubicBezTo>
                  <a:lnTo>
                    <a:pt x="1091697" y="1018477"/>
                  </a:lnTo>
                  <a:cubicBezTo>
                    <a:pt x="1091697" y="1043740"/>
                    <a:pt x="1081661" y="1067969"/>
                    <a:pt x="1063797" y="1085833"/>
                  </a:cubicBezTo>
                  <a:cubicBezTo>
                    <a:pt x="1045933" y="1103696"/>
                    <a:pt x="1021704" y="1113732"/>
                    <a:pt x="996441" y="1113732"/>
                  </a:cubicBezTo>
                  <a:lnTo>
                    <a:pt x="95256" y="1113732"/>
                  </a:lnTo>
                  <a:cubicBezTo>
                    <a:pt x="42647" y="1113732"/>
                    <a:pt x="0" y="1071085"/>
                    <a:pt x="0" y="1018477"/>
                  </a:cubicBezTo>
                  <a:lnTo>
                    <a:pt x="0" y="95256"/>
                  </a:lnTo>
                  <a:cubicBezTo>
                    <a:pt x="0" y="69992"/>
                    <a:pt x="10036" y="45764"/>
                    <a:pt x="27900" y="27900"/>
                  </a:cubicBezTo>
                  <a:cubicBezTo>
                    <a:pt x="45764" y="10036"/>
                    <a:pt x="69992" y="0"/>
                    <a:pt x="95256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91697" cy="1161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608814" y="5473700"/>
            <a:ext cx="4145036" cy="3956197"/>
            <a:chOff x="0" y="0"/>
            <a:chExt cx="1091697" cy="104196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1697" cy="1041961"/>
            </a:xfrm>
            <a:custGeom>
              <a:avLst/>
              <a:gdLst/>
              <a:ahLst/>
              <a:cxnLst/>
              <a:rect r="r" b="b" t="t" l="l"/>
              <a:pathLst>
                <a:path h="1041961" w="1091697">
                  <a:moveTo>
                    <a:pt x="95256" y="0"/>
                  </a:moveTo>
                  <a:lnTo>
                    <a:pt x="996441" y="0"/>
                  </a:lnTo>
                  <a:cubicBezTo>
                    <a:pt x="1021704" y="0"/>
                    <a:pt x="1045933" y="10036"/>
                    <a:pt x="1063797" y="27900"/>
                  </a:cubicBezTo>
                  <a:cubicBezTo>
                    <a:pt x="1081661" y="45764"/>
                    <a:pt x="1091697" y="69992"/>
                    <a:pt x="1091697" y="95256"/>
                  </a:cubicBezTo>
                  <a:lnTo>
                    <a:pt x="1091697" y="946706"/>
                  </a:lnTo>
                  <a:cubicBezTo>
                    <a:pt x="1091697" y="971969"/>
                    <a:pt x="1081661" y="996198"/>
                    <a:pt x="1063797" y="1014061"/>
                  </a:cubicBezTo>
                  <a:cubicBezTo>
                    <a:pt x="1045933" y="1031925"/>
                    <a:pt x="1021704" y="1041961"/>
                    <a:pt x="996441" y="1041961"/>
                  </a:cubicBezTo>
                  <a:lnTo>
                    <a:pt x="95256" y="1041961"/>
                  </a:lnTo>
                  <a:cubicBezTo>
                    <a:pt x="69992" y="1041961"/>
                    <a:pt x="45764" y="1031925"/>
                    <a:pt x="27900" y="1014061"/>
                  </a:cubicBezTo>
                  <a:cubicBezTo>
                    <a:pt x="10036" y="996198"/>
                    <a:pt x="0" y="971969"/>
                    <a:pt x="0" y="946706"/>
                  </a:cubicBezTo>
                  <a:lnTo>
                    <a:pt x="0" y="95256"/>
                  </a:lnTo>
                  <a:cubicBezTo>
                    <a:pt x="0" y="69992"/>
                    <a:pt x="10036" y="45764"/>
                    <a:pt x="27900" y="27900"/>
                  </a:cubicBezTo>
                  <a:cubicBezTo>
                    <a:pt x="45764" y="10036"/>
                    <a:pt x="69992" y="0"/>
                    <a:pt x="95256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091697" cy="1089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7909533" y="1924075"/>
            <a:ext cx="3543598" cy="2601293"/>
          </a:xfrm>
          <a:custGeom>
            <a:avLst/>
            <a:gdLst/>
            <a:ahLst/>
            <a:cxnLst/>
            <a:rect r="r" b="b" t="t" l="l"/>
            <a:pathLst>
              <a:path h="2601293" w="3543598">
                <a:moveTo>
                  <a:pt x="0" y="0"/>
                </a:moveTo>
                <a:lnTo>
                  <a:pt x="3543598" y="0"/>
                </a:lnTo>
                <a:lnTo>
                  <a:pt x="3543598" y="2601294"/>
                </a:lnTo>
                <a:lnTo>
                  <a:pt x="0" y="26012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875652" y="6281420"/>
            <a:ext cx="3611360" cy="2451993"/>
          </a:xfrm>
          <a:custGeom>
            <a:avLst/>
            <a:gdLst/>
            <a:ahLst/>
            <a:cxnLst/>
            <a:rect r="r" b="b" t="t" l="l"/>
            <a:pathLst>
              <a:path h="2451993" w="3611360">
                <a:moveTo>
                  <a:pt x="0" y="0"/>
                </a:moveTo>
                <a:lnTo>
                  <a:pt x="3611360" y="0"/>
                </a:lnTo>
                <a:lnTo>
                  <a:pt x="3611360" y="2451993"/>
                </a:lnTo>
                <a:lnTo>
                  <a:pt x="0" y="24519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1736053"/>
            <a:ext cx="589834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b="true" sz="5199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STATEMENT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923925"/>
            <a:ext cx="5634574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PROBLEM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2925109"/>
            <a:ext cx="5634574" cy="1372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Real-world images contain complex scenes where isolating the main subject is challenging.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4616599"/>
            <a:ext cx="5634574" cy="182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Manual segmentation and preprocessing of large image datasets is time-consuming and inefficient.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19310" y="2557377"/>
            <a:ext cx="4650324" cy="2286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Proper preprocessing such as resizing, augmentation, and normalization is required to prepare consistent training data.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419310" y="6555740"/>
            <a:ext cx="4650324" cy="2743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structured pipeline is needed to convert raw image datasets into training-ready data for segmentation model development.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6765290"/>
            <a:ext cx="5634574" cy="182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There is a need for an automated system to generate accurate segmentation masks from annotated datasets.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1038225"/>
            <a:ext cx="7459223" cy="8366404"/>
          </a:xfrm>
          <a:custGeom>
            <a:avLst/>
            <a:gdLst/>
            <a:ahLst/>
            <a:cxnLst/>
            <a:rect r="r" b="b" t="t" l="l"/>
            <a:pathLst>
              <a:path h="8366404" w="7459223">
                <a:moveTo>
                  <a:pt x="0" y="0"/>
                </a:moveTo>
                <a:lnTo>
                  <a:pt x="7459223" y="0"/>
                </a:lnTo>
                <a:lnTo>
                  <a:pt x="7459223" y="8366404"/>
                </a:lnTo>
                <a:lnTo>
                  <a:pt x="0" y="8366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9941" t="0" r="-49457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811929" y="1028700"/>
            <a:ext cx="7791294" cy="8366404"/>
          </a:xfrm>
          <a:custGeom>
            <a:avLst/>
            <a:gdLst/>
            <a:ahLst/>
            <a:cxnLst/>
            <a:rect r="r" b="b" t="t" l="l"/>
            <a:pathLst>
              <a:path h="8366404" w="7791294">
                <a:moveTo>
                  <a:pt x="0" y="0"/>
                </a:moveTo>
                <a:lnTo>
                  <a:pt x="7791294" y="0"/>
                </a:lnTo>
                <a:lnTo>
                  <a:pt x="7791294" y="8366404"/>
                </a:lnTo>
                <a:lnTo>
                  <a:pt x="0" y="83664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341" r="0" b="-13859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253739"/>
            <a:ext cx="602138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b="true" sz="5199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DIAGRAM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055109"/>
            <a:ext cx="7522948" cy="8434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The system loads the dataset and annotation files.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It checks whether images are correctly linked with annotations.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If valid, segmentation masks are generated.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The preprocessing pipeline is executed and verified.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Processed results are visualized and saved to complete Milestone 1.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AutoShape 7" id="7"/>
          <p:cNvSpPr/>
          <p:nvPr/>
        </p:nvSpPr>
        <p:spPr>
          <a:xfrm>
            <a:off x="8811929" y="1057275"/>
            <a:ext cx="7791294" cy="0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8811929" y="9395104"/>
            <a:ext cx="7791294" cy="9525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28700" y="452369"/>
            <a:ext cx="5634574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USE CASE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69597" y="9636347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347876" y="2448792"/>
            <a:ext cx="11269148" cy="7549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The project uses the COCO 2017 segmentation dataset containing over 200,000 labeled images with object segmentation annotations.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The dataset includes 80 object classes such as person, car, bicycle, animals, and common everyday objects.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It consists of image folders and JSON annotation files storing class labels, image metadata, and polygon segmentation coordinates.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Dataset structure and class distribution were analyzed by inspecting annotation categories and folder organization.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Sample images, class labels, and corresponding masks were visualized to study segmentation quality.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Image–annotation alignment was verified to ensure accurate mask generation.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01770" y="1195264"/>
            <a:ext cx="3971559" cy="738374"/>
          </a:xfrm>
          <a:custGeom>
            <a:avLst/>
            <a:gdLst/>
            <a:ahLst/>
            <a:cxnLst/>
            <a:rect r="r" b="b" t="t" l="l"/>
            <a:pathLst>
              <a:path h="738374" w="3971559">
                <a:moveTo>
                  <a:pt x="0" y="0"/>
                </a:moveTo>
                <a:lnTo>
                  <a:pt x="3971559" y="0"/>
                </a:lnTo>
                <a:lnTo>
                  <a:pt x="3971559" y="738375"/>
                </a:lnTo>
                <a:lnTo>
                  <a:pt x="0" y="738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89971" y="2133085"/>
            <a:ext cx="3795158" cy="2619883"/>
          </a:xfrm>
          <a:custGeom>
            <a:avLst/>
            <a:gdLst/>
            <a:ahLst/>
            <a:cxnLst/>
            <a:rect r="r" b="b" t="t" l="l"/>
            <a:pathLst>
              <a:path h="2619883" w="3795158">
                <a:moveTo>
                  <a:pt x="0" y="0"/>
                </a:moveTo>
                <a:lnTo>
                  <a:pt x="3795157" y="0"/>
                </a:lnTo>
                <a:lnTo>
                  <a:pt x="3795157" y="2619883"/>
                </a:lnTo>
                <a:lnTo>
                  <a:pt x="0" y="26198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4588405"/>
            <a:ext cx="3717699" cy="2382857"/>
          </a:xfrm>
          <a:custGeom>
            <a:avLst/>
            <a:gdLst/>
            <a:ahLst/>
            <a:cxnLst/>
            <a:rect r="r" b="b" t="t" l="l"/>
            <a:pathLst>
              <a:path h="2382857" w="3717699">
                <a:moveTo>
                  <a:pt x="0" y="0"/>
                </a:moveTo>
                <a:lnTo>
                  <a:pt x="3717699" y="0"/>
                </a:lnTo>
                <a:lnTo>
                  <a:pt x="3717699" y="2382857"/>
                </a:lnTo>
                <a:lnTo>
                  <a:pt x="0" y="23828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67429" y="6944334"/>
            <a:ext cx="3717699" cy="2313966"/>
          </a:xfrm>
          <a:custGeom>
            <a:avLst/>
            <a:gdLst/>
            <a:ahLst/>
            <a:cxnLst/>
            <a:rect r="r" b="b" t="t" l="l"/>
            <a:pathLst>
              <a:path h="2313966" w="3717699">
                <a:moveTo>
                  <a:pt x="0" y="0"/>
                </a:moveTo>
                <a:lnTo>
                  <a:pt x="3717699" y="0"/>
                </a:lnTo>
                <a:lnTo>
                  <a:pt x="3717699" y="2313966"/>
                </a:lnTo>
                <a:lnTo>
                  <a:pt x="0" y="23139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64493" y="813075"/>
            <a:ext cx="4616735" cy="8823272"/>
          </a:xfrm>
          <a:custGeom>
            <a:avLst/>
            <a:gdLst/>
            <a:ahLst/>
            <a:cxnLst/>
            <a:rect r="r" b="b" t="t" l="l"/>
            <a:pathLst>
              <a:path h="8823272" w="4616735">
                <a:moveTo>
                  <a:pt x="0" y="0"/>
                </a:moveTo>
                <a:lnTo>
                  <a:pt x="4616735" y="0"/>
                </a:lnTo>
                <a:lnTo>
                  <a:pt x="4616735" y="8823272"/>
                </a:lnTo>
                <a:lnTo>
                  <a:pt x="0" y="88232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9398" t="0" r="-70521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322170" y="1469202"/>
            <a:ext cx="1129485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EXPLORATION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22170" y="532149"/>
            <a:ext cx="11294854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DATASET </a:t>
            </a:r>
          </a:p>
        </p:txBody>
      </p:sp>
      <p:sp>
        <p:nvSpPr>
          <p:cNvPr name="AutoShape 14" id="14"/>
          <p:cNvSpPr/>
          <p:nvPr/>
        </p:nvSpPr>
        <p:spPr>
          <a:xfrm flipH="true" flipV="true">
            <a:off x="683543" y="1028700"/>
            <a:ext cx="0" cy="865906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H="true" flipV="true">
            <a:off x="5300278" y="1004668"/>
            <a:ext cx="0" cy="863167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6792707" cy="10287000"/>
            <a:chOff x="0" y="0"/>
            <a:chExt cx="1789026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8902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789026">
                  <a:moveTo>
                    <a:pt x="0" y="0"/>
                  </a:moveTo>
                  <a:lnTo>
                    <a:pt x="1789026" y="0"/>
                  </a:lnTo>
                  <a:lnTo>
                    <a:pt x="17890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89026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144000" y="7149809"/>
            <a:ext cx="6620508" cy="2607392"/>
          </a:xfrm>
          <a:custGeom>
            <a:avLst/>
            <a:gdLst/>
            <a:ahLst/>
            <a:cxnLst/>
            <a:rect r="r" b="b" t="t" l="l"/>
            <a:pathLst>
              <a:path h="2607392" w="6620508">
                <a:moveTo>
                  <a:pt x="0" y="0"/>
                </a:moveTo>
                <a:lnTo>
                  <a:pt x="6620508" y="0"/>
                </a:lnTo>
                <a:lnTo>
                  <a:pt x="6620508" y="2607392"/>
                </a:lnTo>
                <a:lnTo>
                  <a:pt x="0" y="2607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579876" y="5317490"/>
            <a:ext cx="7748757" cy="4649611"/>
          </a:xfrm>
          <a:custGeom>
            <a:avLst/>
            <a:gdLst/>
            <a:ahLst/>
            <a:cxnLst/>
            <a:rect r="r" b="b" t="t" l="l"/>
            <a:pathLst>
              <a:path h="4649611" w="7748757">
                <a:moveTo>
                  <a:pt x="0" y="0"/>
                </a:moveTo>
                <a:lnTo>
                  <a:pt x="7748756" y="0"/>
                </a:lnTo>
                <a:lnTo>
                  <a:pt x="7748756" y="4649611"/>
                </a:lnTo>
                <a:lnTo>
                  <a:pt x="0" y="46496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742" r="0" b="0"/>
            </a:stretch>
          </a:blipFill>
          <a:ln w="8572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645237" y="207645"/>
            <a:ext cx="5502233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PACKAGES USED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8101" y="1209429"/>
            <a:ext cx="5776506" cy="8547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09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• </a:t>
            </a:r>
            <a:r>
              <a:rPr lang="en-US" sz="209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NumPy:</a:t>
            </a:r>
            <a:r>
              <a:rPr lang="en-US" sz="20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Used for array operations and mask processing during preprocessing.</a:t>
            </a:r>
          </a:p>
          <a:p>
            <a:pPr algn="l">
              <a:lnSpc>
                <a:spcPts val="2937"/>
              </a:lnSpc>
            </a:pPr>
          </a:p>
          <a:p>
            <a:pPr algn="l">
              <a:lnSpc>
                <a:spcPts val="2937"/>
              </a:lnSpc>
            </a:pPr>
            <a:r>
              <a:rPr lang="en-US" sz="209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• OpenCV:</a:t>
            </a:r>
            <a:r>
              <a:rPr lang="en-US" sz="20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Used for image loading, resizing, and mask generation.</a:t>
            </a:r>
          </a:p>
          <a:p>
            <a:pPr algn="l">
              <a:lnSpc>
                <a:spcPts val="2937"/>
              </a:lnSpc>
            </a:pPr>
          </a:p>
          <a:p>
            <a:pPr algn="l">
              <a:lnSpc>
                <a:spcPts val="2937"/>
              </a:lnSpc>
            </a:pPr>
            <a:r>
              <a:rPr lang="en-US" sz="20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en-US" sz="209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Matplotlib:</a:t>
            </a:r>
            <a:r>
              <a:rPr lang="en-US" sz="20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Used to visualize images and segmentation results.</a:t>
            </a:r>
          </a:p>
          <a:p>
            <a:pPr algn="l">
              <a:lnSpc>
                <a:spcPts val="2937"/>
              </a:lnSpc>
            </a:pPr>
          </a:p>
          <a:p>
            <a:pPr algn="l">
              <a:lnSpc>
                <a:spcPts val="2937"/>
              </a:lnSpc>
            </a:pPr>
            <a:r>
              <a:rPr lang="en-US" sz="209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• Albumentations:</a:t>
            </a:r>
            <a:r>
              <a:rPr lang="en-US" sz="20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Used for data augmentation such as flipping and brightness adjustments.</a:t>
            </a:r>
          </a:p>
          <a:p>
            <a:pPr algn="l">
              <a:lnSpc>
                <a:spcPts val="2937"/>
              </a:lnSpc>
            </a:pPr>
          </a:p>
          <a:p>
            <a:pPr algn="l">
              <a:lnSpc>
                <a:spcPts val="2937"/>
              </a:lnSpc>
            </a:pPr>
            <a:r>
              <a:rPr lang="en-US" sz="209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• JSON</a:t>
            </a:r>
            <a:r>
              <a:rPr lang="en-US" sz="20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Used to read and handle annotation files.</a:t>
            </a:r>
          </a:p>
          <a:p>
            <a:pPr algn="l">
              <a:lnSpc>
                <a:spcPts val="2937"/>
              </a:lnSpc>
            </a:pPr>
          </a:p>
          <a:p>
            <a:pPr algn="l">
              <a:lnSpc>
                <a:spcPts val="2937"/>
              </a:lnSpc>
            </a:pPr>
            <a:r>
              <a:rPr lang="en-US" sz="209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• OS:</a:t>
            </a:r>
            <a:r>
              <a:rPr lang="en-US" sz="20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Used for file and folder management.</a:t>
            </a:r>
          </a:p>
          <a:p>
            <a:pPr algn="l">
              <a:lnSpc>
                <a:spcPts val="2937"/>
              </a:lnSpc>
            </a:pPr>
          </a:p>
          <a:p>
            <a:pPr algn="l">
              <a:lnSpc>
                <a:spcPts val="2937"/>
              </a:lnSpc>
            </a:pPr>
            <a:r>
              <a:rPr lang="en-US" sz="209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• Random:</a:t>
            </a:r>
            <a:r>
              <a:rPr lang="en-US" sz="20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Used for dataset sampling and splitting.</a:t>
            </a:r>
          </a:p>
          <a:p>
            <a:pPr algn="l">
              <a:lnSpc>
                <a:spcPts val="2937"/>
              </a:lnSpc>
            </a:pPr>
          </a:p>
          <a:p>
            <a:pPr algn="l">
              <a:lnSpc>
                <a:spcPts val="2937"/>
              </a:lnSpc>
            </a:pPr>
            <a:r>
              <a:rPr lang="en-US" sz="209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• KaggleHub / Dataset Tools:</a:t>
            </a:r>
            <a:r>
              <a:rPr lang="en-US" sz="20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Used to download and manage the dataset.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795042" y="775406"/>
            <a:ext cx="73184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ENVIRONMENT USED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95042" y="5765509"/>
            <a:ext cx="7318425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ENVIRONMENT SETUP AND </a:t>
            </a:r>
            <a:r>
              <a:rPr lang="en-US" sz="39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PACKAGE INSTALLATION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62310" y="1797685"/>
            <a:ext cx="9705657" cy="249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project was developed and executed using Google Colab, a cloud-based Python notebook environment that provides GPU support, pre-installed machine learning libraries, and seamless integration for dataset handling and visualization.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624726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06450" y="806450"/>
            <a:ext cx="6990015" cy="8674100"/>
            <a:chOff x="0" y="0"/>
            <a:chExt cx="1840992" cy="22845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40992" cy="2284537"/>
            </a:xfrm>
            <a:custGeom>
              <a:avLst/>
              <a:gdLst/>
              <a:ahLst/>
              <a:cxnLst/>
              <a:rect r="r" b="b" t="t" l="l"/>
              <a:pathLst>
                <a:path h="2284537" w="1840992">
                  <a:moveTo>
                    <a:pt x="56486" y="0"/>
                  </a:moveTo>
                  <a:lnTo>
                    <a:pt x="1784506" y="0"/>
                  </a:lnTo>
                  <a:cubicBezTo>
                    <a:pt x="1799487" y="0"/>
                    <a:pt x="1813854" y="5951"/>
                    <a:pt x="1824447" y="16544"/>
                  </a:cubicBezTo>
                  <a:cubicBezTo>
                    <a:pt x="1835041" y="27138"/>
                    <a:pt x="1840992" y="41505"/>
                    <a:pt x="1840992" y="56486"/>
                  </a:cubicBezTo>
                  <a:lnTo>
                    <a:pt x="1840992" y="2228051"/>
                  </a:lnTo>
                  <a:cubicBezTo>
                    <a:pt x="1840992" y="2243032"/>
                    <a:pt x="1835041" y="2257399"/>
                    <a:pt x="1824447" y="2267992"/>
                  </a:cubicBezTo>
                  <a:cubicBezTo>
                    <a:pt x="1813854" y="2278586"/>
                    <a:pt x="1799487" y="2284537"/>
                    <a:pt x="1784506" y="2284537"/>
                  </a:cubicBezTo>
                  <a:lnTo>
                    <a:pt x="56486" y="2284537"/>
                  </a:lnTo>
                  <a:cubicBezTo>
                    <a:pt x="41505" y="2284537"/>
                    <a:pt x="27138" y="2278586"/>
                    <a:pt x="16544" y="2267992"/>
                  </a:cubicBezTo>
                  <a:cubicBezTo>
                    <a:pt x="5951" y="2257399"/>
                    <a:pt x="0" y="2243032"/>
                    <a:pt x="0" y="2228051"/>
                  </a:cubicBezTo>
                  <a:lnTo>
                    <a:pt x="0" y="56486"/>
                  </a:lnTo>
                  <a:cubicBezTo>
                    <a:pt x="0" y="41505"/>
                    <a:pt x="5951" y="27138"/>
                    <a:pt x="16544" y="16544"/>
                  </a:cubicBezTo>
                  <a:cubicBezTo>
                    <a:pt x="27138" y="5951"/>
                    <a:pt x="41505" y="0"/>
                    <a:pt x="56486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840992" cy="2332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28700" y="1028700"/>
            <a:ext cx="3057703" cy="4650256"/>
          </a:xfrm>
          <a:custGeom>
            <a:avLst/>
            <a:gdLst/>
            <a:ahLst/>
            <a:cxnLst/>
            <a:rect r="r" b="b" t="t" l="l"/>
            <a:pathLst>
              <a:path h="4650256" w="3057703">
                <a:moveTo>
                  <a:pt x="0" y="0"/>
                </a:moveTo>
                <a:lnTo>
                  <a:pt x="3057703" y="0"/>
                </a:lnTo>
                <a:lnTo>
                  <a:pt x="3057703" y="4650256"/>
                </a:lnTo>
                <a:lnTo>
                  <a:pt x="0" y="46502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509052" y="4578767"/>
            <a:ext cx="3058448" cy="4679533"/>
          </a:xfrm>
          <a:custGeom>
            <a:avLst/>
            <a:gdLst/>
            <a:ahLst/>
            <a:cxnLst/>
            <a:rect r="r" b="b" t="t" l="l"/>
            <a:pathLst>
              <a:path h="4679533" w="3058448">
                <a:moveTo>
                  <a:pt x="0" y="0"/>
                </a:moveTo>
                <a:lnTo>
                  <a:pt x="3058447" y="0"/>
                </a:lnTo>
                <a:lnTo>
                  <a:pt x="3058447" y="4679533"/>
                </a:lnTo>
                <a:lnTo>
                  <a:pt x="0" y="46795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296236" y="1659654"/>
            <a:ext cx="968473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SUBJECT ISOLATION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96236" y="718425"/>
            <a:ext cx="9684731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AUTOMATED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96236" y="3384949"/>
            <a:ext cx="9684731" cy="5958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Automatically detects the main subject in an image.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Extracts the subject while removing the background.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Sets all non-subject pixels to black.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Produces a clean cutout image of the original subject.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Supports image editing and media processing workflows.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64925" y="9803948"/>
            <a:ext cx="2514600" cy="343864"/>
            <a:chOff x="0" y="0"/>
            <a:chExt cx="662281" cy="9056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90565"/>
            </a:xfrm>
            <a:custGeom>
              <a:avLst/>
              <a:gdLst/>
              <a:ahLst/>
              <a:cxnLst/>
              <a:rect r="r" b="b" t="t" l="l"/>
              <a:pathLst>
                <a:path h="90565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90565"/>
                  </a:lnTo>
                  <a:lnTo>
                    <a:pt x="0" y="90565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38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96812" y="2510239"/>
            <a:ext cx="16494375" cy="6748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4"/>
              </a:lnSpc>
            </a:pPr>
            <a:r>
              <a:rPr lang="en-US" sz="320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Week 1: Project Initialization and Dataset Acqu</a:t>
            </a:r>
            <a:r>
              <a:rPr lang="en-US" sz="320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isition</a:t>
            </a:r>
          </a:p>
          <a:p>
            <a:pPr algn="l">
              <a:lnSpc>
                <a:spcPts val="4484"/>
              </a:lnSpc>
            </a:pPr>
            <a:r>
              <a:rPr lang="en-US" sz="3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Define project objectives and expected results.</a:t>
            </a:r>
          </a:p>
          <a:p>
            <a:pPr algn="l">
              <a:lnSpc>
                <a:spcPts val="4484"/>
              </a:lnSpc>
            </a:pPr>
            <a:r>
              <a:rPr lang="en-US" sz="3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Acquire and inspect an appropriate image segmentation dataset with subject mask annotations.</a:t>
            </a:r>
          </a:p>
          <a:p>
            <a:pPr algn="l">
              <a:lnSpc>
                <a:spcPts val="4484"/>
              </a:lnSpc>
            </a:pPr>
            <a:r>
              <a:rPr lang="en-US" sz="3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Explore dataset structure and view example images and masks.</a:t>
            </a:r>
          </a:p>
          <a:p>
            <a:pPr algn="l">
              <a:lnSpc>
                <a:spcPts val="4484"/>
              </a:lnSpc>
            </a:pPr>
          </a:p>
          <a:p>
            <a:pPr algn="l">
              <a:lnSpc>
                <a:spcPts val="4484"/>
              </a:lnSpc>
            </a:pPr>
            <a:r>
              <a:rPr lang="en-US" sz="320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Week 2: Data Preprocessing and Validation</a:t>
            </a:r>
          </a:p>
          <a:p>
            <a:pPr algn="l">
              <a:lnSpc>
                <a:spcPts val="4484"/>
              </a:lnSpc>
            </a:pPr>
            <a:r>
              <a:rPr lang="en-US" sz="3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Develop a preprocessing pipeline (resize, normalization, augmentation).</a:t>
            </a:r>
          </a:p>
          <a:p>
            <a:pPr algn="l">
              <a:lnSpc>
                <a:spcPts val="4484"/>
              </a:lnSpc>
            </a:pPr>
            <a:r>
              <a:rPr lang="en-US" sz="3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Ensure correct alignment of images and annotated masks.</a:t>
            </a:r>
          </a:p>
          <a:p>
            <a:pPr algn="l">
              <a:lnSpc>
                <a:spcPts val="4484"/>
              </a:lnSpc>
            </a:pPr>
            <a:r>
              <a:rPr lang="en-US" sz="3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Convert multi-class masks (if present) into binary masks identifying only the main subject.</a:t>
            </a:r>
          </a:p>
          <a:p>
            <a:pPr algn="l">
              <a:lnSpc>
                <a:spcPts val="4484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64925" y="1168271"/>
            <a:ext cx="1649437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b="true" sz="5199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TASKS TO BE COMPLETED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4925" y="363582"/>
            <a:ext cx="16362488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MILESTONE 1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64925" y="9803948"/>
            <a:ext cx="2514600" cy="343864"/>
            <a:chOff x="0" y="0"/>
            <a:chExt cx="662281" cy="9056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90565"/>
            </a:xfrm>
            <a:custGeom>
              <a:avLst/>
              <a:gdLst/>
              <a:ahLst/>
              <a:cxnLst/>
              <a:rect r="r" b="b" t="t" l="l"/>
              <a:pathLst>
                <a:path h="90565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90565"/>
                  </a:lnTo>
                  <a:lnTo>
                    <a:pt x="0" y="90565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38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452134" y="-102579"/>
            <a:ext cx="4201899" cy="10389579"/>
          </a:xfrm>
          <a:custGeom>
            <a:avLst/>
            <a:gdLst/>
            <a:ahLst/>
            <a:cxnLst/>
            <a:rect r="r" b="b" t="t" l="l"/>
            <a:pathLst>
              <a:path h="10389579" w="4201899">
                <a:moveTo>
                  <a:pt x="0" y="0"/>
                </a:moveTo>
                <a:lnTo>
                  <a:pt x="4201898" y="0"/>
                </a:lnTo>
                <a:lnTo>
                  <a:pt x="4201898" y="10389579"/>
                </a:lnTo>
                <a:lnTo>
                  <a:pt x="0" y="103895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871" r="-2979" b="-24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63225" y="1917661"/>
            <a:ext cx="11654077" cy="823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260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Dataset </a:t>
            </a:r>
            <a:r>
              <a:rPr lang="en-US" sz="260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Loading Module: </a:t>
            </a:r>
            <a:r>
              <a:rPr lang="en-US" sz="26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Imports images and annotation files and links each image with its corresponding segmentation data.</a:t>
            </a:r>
          </a:p>
          <a:p>
            <a:pPr algn="l">
              <a:lnSpc>
                <a:spcPts val="3644"/>
              </a:lnSpc>
            </a:pPr>
          </a:p>
          <a:p>
            <a:pPr algn="l">
              <a:lnSpc>
                <a:spcPts val="3644"/>
              </a:lnSpc>
            </a:pPr>
            <a:r>
              <a:rPr lang="en-US" sz="260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Mask Generation Module: </a:t>
            </a:r>
            <a:r>
              <a:rPr lang="en-US" sz="26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Converts polygon annotations into pixel-level segmentation masks for subject extraction.</a:t>
            </a:r>
          </a:p>
          <a:p>
            <a:pPr algn="l">
              <a:lnSpc>
                <a:spcPts val="3644"/>
              </a:lnSpc>
            </a:pPr>
          </a:p>
          <a:p>
            <a:pPr algn="l">
              <a:lnSpc>
                <a:spcPts val="3644"/>
              </a:lnSpc>
            </a:pPr>
            <a:r>
              <a:rPr lang="en-US" sz="260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Preprocessing Module:</a:t>
            </a:r>
            <a:r>
              <a:rPr lang="en-US" sz="26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Resizes images and masks to a fixed resolution to ensure consistent input dimensions.</a:t>
            </a:r>
          </a:p>
          <a:p>
            <a:pPr algn="l">
              <a:lnSpc>
                <a:spcPts val="3644"/>
              </a:lnSpc>
            </a:pPr>
          </a:p>
          <a:p>
            <a:pPr algn="l">
              <a:lnSpc>
                <a:spcPts val="3644"/>
              </a:lnSpc>
            </a:pPr>
            <a:r>
              <a:rPr lang="en-US" sz="260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Augmentation Module:</a:t>
            </a:r>
            <a:r>
              <a:rPr lang="en-US" sz="26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Applies transformations such as flipping and brightness adjustment to increase dataset diversity.</a:t>
            </a:r>
          </a:p>
          <a:p>
            <a:pPr algn="l">
              <a:lnSpc>
                <a:spcPts val="3644"/>
              </a:lnSpc>
            </a:pPr>
          </a:p>
          <a:p>
            <a:pPr algn="l">
              <a:lnSpc>
                <a:spcPts val="3644"/>
              </a:lnSpc>
            </a:pPr>
            <a:r>
              <a:rPr lang="en-US" sz="260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Normalization Module:</a:t>
            </a:r>
            <a:r>
              <a:rPr lang="en-US" sz="26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Scales image pixel values and converts masks into binary format.</a:t>
            </a:r>
          </a:p>
          <a:p>
            <a:pPr algn="l">
              <a:lnSpc>
                <a:spcPts val="3644"/>
              </a:lnSpc>
            </a:pPr>
          </a:p>
          <a:p>
            <a:pPr algn="l">
              <a:lnSpc>
                <a:spcPts val="3644"/>
              </a:lnSpc>
            </a:pPr>
            <a:r>
              <a:rPr lang="en-US" sz="260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Visualization &amp; Output Module:</a:t>
            </a:r>
            <a:r>
              <a:rPr lang="en-US" sz="26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Displays processed results and saves training-ready data for future model development.</a:t>
            </a:r>
          </a:p>
          <a:p>
            <a:pPr algn="l">
              <a:lnSpc>
                <a:spcPts val="3644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91914" y="933450"/>
            <a:ext cx="589834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b="true" sz="5199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ARCHITECTURE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62238" y="132080"/>
            <a:ext cx="5634574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PIPELINE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2077" y="1728386"/>
            <a:ext cx="17443846" cy="4071391"/>
          </a:xfrm>
          <a:custGeom>
            <a:avLst/>
            <a:gdLst/>
            <a:ahLst/>
            <a:cxnLst/>
            <a:rect r="r" b="b" t="t" l="l"/>
            <a:pathLst>
              <a:path h="4071391" w="17443846">
                <a:moveTo>
                  <a:pt x="0" y="0"/>
                </a:moveTo>
                <a:lnTo>
                  <a:pt x="17443846" y="0"/>
                </a:lnTo>
                <a:lnTo>
                  <a:pt x="17443846" y="4071391"/>
                </a:lnTo>
                <a:lnTo>
                  <a:pt x="0" y="40713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643" r="0" b="-2556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676618" y="631033"/>
            <a:ext cx="675638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118918" y="-104775"/>
            <a:ext cx="5871786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303642"/>
                </a:solidFill>
                <a:latin typeface="Roboto"/>
                <a:ea typeface="Roboto"/>
                <a:cs typeface="Roboto"/>
                <a:sym typeface="Roboto"/>
              </a:rPr>
              <a:t>MODEL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6199" y="5942652"/>
            <a:ext cx="16837223" cy="4115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• The model uses an encoder–decoder segmentation architecture to isolate the subject.</a:t>
            </a:r>
          </a:p>
          <a:p>
            <a:pPr algn="l">
              <a:lnSpc>
                <a:spcPts val="3639"/>
              </a:lnSpc>
            </a:pP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• The encoder extracts high-level features using convolution and pooling layers.</a:t>
            </a:r>
          </a:p>
          <a:p>
            <a:pPr algn="l">
              <a:lnSpc>
                <a:spcPts val="3639"/>
              </a:lnSpc>
            </a:pP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• A bottleneck layer captures deep semantic information.</a:t>
            </a:r>
          </a:p>
          <a:p>
            <a:pPr algn="l">
              <a:lnSpc>
                <a:spcPts val="3639"/>
              </a:lnSpc>
            </a:pP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• The decoder reconstructs the image to produce pixel-level masks.</a:t>
            </a:r>
          </a:p>
          <a:p>
            <a:pPr algn="l">
              <a:lnSpc>
                <a:spcPts val="3639"/>
              </a:lnSpc>
            </a:pP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• Skip connections preserve spatial details and improve accuracy.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6238" y="1881801"/>
            <a:ext cx="16535523" cy="4085231"/>
          </a:xfrm>
          <a:custGeom>
            <a:avLst/>
            <a:gdLst/>
            <a:ahLst/>
            <a:cxnLst/>
            <a:rect r="r" b="b" t="t" l="l"/>
            <a:pathLst>
              <a:path h="4085231" w="16535523">
                <a:moveTo>
                  <a:pt x="0" y="0"/>
                </a:moveTo>
                <a:lnTo>
                  <a:pt x="16535524" y="0"/>
                </a:lnTo>
                <a:lnTo>
                  <a:pt x="16535524" y="4085231"/>
                </a:lnTo>
                <a:lnTo>
                  <a:pt x="0" y="40852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68" t="0" r="-1268" b="-18803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74779"/>
            <a:ext cx="1653552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SUBJECT ISOLATION AND PREPROCESSING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3409"/>
            <a:ext cx="16230600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303642"/>
                </a:solidFill>
                <a:latin typeface="Roboto"/>
                <a:ea typeface="Roboto"/>
                <a:cs typeface="Roboto"/>
                <a:sym typeface="Roboto"/>
              </a:rPr>
              <a:t>RESULTS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93957" y="6299835"/>
            <a:ext cx="16700087" cy="348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• Successfully generated segmentation masks from dataset annotations.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• Verified correct alignment between original images and masks.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• Applied preprocessing pipeline including resizing, normalization, and augmentation.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• Demonstrated subject isolation using binary masks.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64925" y="9803948"/>
            <a:ext cx="2514600" cy="343864"/>
            <a:chOff x="0" y="0"/>
            <a:chExt cx="662281" cy="9056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90565"/>
            </a:xfrm>
            <a:custGeom>
              <a:avLst/>
              <a:gdLst/>
              <a:ahLst/>
              <a:cxnLst/>
              <a:rect r="r" b="b" t="t" l="l"/>
              <a:pathLst>
                <a:path h="90565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90565"/>
                  </a:lnTo>
                  <a:lnTo>
                    <a:pt x="0" y="90565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38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16519" y="2029486"/>
            <a:ext cx="17654963" cy="7486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4"/>
              </a:lnSpc>
            </a:pPr>
            <a:r>
              <a:rPr lang="en-US" sz="300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</a:t>
            </a:r>
            <a:r>
              <a:rPr lang="en-US" sz="30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Challenge:</a:t>
            </a:r>
            <a:r>
              <a:rPr lang="en-US" sz="30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Understanding the dataset structure and annotation format.</a:t>
            </a:r>
          </a:p>
          <a:p>
            <a:pPr algn="l">
              <a:lnSpc>
                <a:spcPts val="4204"/>
              </a:lnSpc>
            </a:pPr>
            <a:r>
              <a:rPr lang="en-US" sz="300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Solution:</a:t>
            </a:r>
            <a:r>
              <a:rPr lang="en-US" sz="30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Explored JSON files and visualized sample images with masks to verify structure.</a:t>
            </a:r>
          </a:p>
          <a:p>
            <a:pPr algn="l">
              <a:lnSpc>
                <a:spcPts val="4204"/>
              </a:lnSpc>
            </a:pPr>
          </a:p>
          <a:p>
            <a:pPr algn="l">
              <a:lnSpc>
                <a:spcPts val="4204"/>
              </a:lnSpc>
            </a:pPr>
            <a:r>
              <a:rPr lang="en-US" sz="300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Challenge:</a:t>
            </a:r>
            <a:r>
              <a:rPr lang="en-US" sz="30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Incorrect alignment between images and segmentation masks.</a:t>
            </a:r>
          </a:p>
          <a:p>
            <a:pPr algn="l">
              <a:lnSpc>
                <a:spcPts val="4204"/>
              </a:lnSpc>
            </a:pPr>
            <a:r>
              <a:rPr lang="en-US" sz="30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Solution: Implemented validation checks and visual comparisons to ensure proper mapping.</a:t>
            </a:r>
          </a:p>
          <a:p>
            <a:pPr algn="l">
              <a:lnSpc>
                <a:spcPts val="4204"/>
              </a:lnSpc>
            </a:pPr>
          </a:p>
          <a:p>
            <a:pPr algn="l">
              <a:lnSpc>
                <a:spcPts val="4204"/>
              </a:lnSpc>
            </a:pPr>
            <a:r>
              <a:rPr lang="en-US" sz="300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Challenge:</a:t>
            </a:r>
            <a:r>
              <a:rPr lang="en-US" sz="30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Handling multi-class segmentation annotations.</a:t>
            </a:r>
          </a:p>
          <a:p>
            <a:pPr algn="l">
              <a:lnSpc>
                <a:spcPts val="4204"/>
              </a:lnSpc>
            </a:pPr>
            <a:r>
              <a:rPr lang="en-US" sz="300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Solution: </a:t>
            </a:r>
            <a:r>
              <a:rPr lang="en-US" sz="30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Converted masks into binary format focusing only on the main subject.</a:t>
            </a:r>
          </a:p>
          <a:p>
            <a:pPr algn="l">
              <a:lnSpc>
                <a:spcPts val="4204"/>
              </a:lnSpc>
            </a:pPr>
          </a:p>
          <a:p>
            <a:pPr algn="l">
              <a:lnSpc>
                <a:spcPts val="4204"/>
              </a:lnSpc>
            </a:pPr>
            <a:r>
              <a:rPr lang="en-US" sz="300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Challenge:</a:t>
            </a:r>
            <a:r>
              <a:rPr lang="en-US" sz="30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Building a consistent preprocessing pipeline.</a:t>
            </a:r>
          </a:p>
          <a:p>
            <a:pPr algn="l">
              <a:lnSpc>
                <a:spcPts val="4204"/>
              </a:lnSpc>
            </a:pPr>
            <a:r>
              <a:rPr lang="en-US" sz="300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Solution:</a:t>
            </a:r>
            <a:r>
              <a:rPr lang="en-US" sz="30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Developed an automated pipeline for resizing, normalization, and augmentation.</a:t>
            </a:r>
          </a:p>
          <a:p>
            <a:pPr algn="l">
              <a:lnSpc>
                <a:spcPts val="4204"/>
              </a:lnSpc>
            </a:pPr>
          </a:p>
          <a:p>
            <a:pPr algn="l">
              <a:lnSpc>
                <a:spcPts val="4204"/>
              </a:lnSpc>
            </a:pPr>
            <a:r>
              <a:rPr lang="en-US" sz="300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Challenge:</a:t>
            </a:r>
            <a:r>
              <a:rPr lang="en-US" sz="30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Managing large dataset files in the environment.</a:t>
            </a:r>
          </a:p>
          <a:p>
            <a:pPr algn="l">
              <a:lnSpc>
                <a:spcPts val="4204"/>
              </a:lnSpc>
              <a:spcBef>
                <a:spcPct val="0"/>
              </a:spcBef>
            </a:pPr>
            <a:r>
              <a:rPr lang="en-US" sz="300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Solution:</a:t>
            </a:r>
            <a:r>
              <a:rPr lang="en-US" sz="30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Organized folders and used efficient loading and sampling techniques.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6519" y="1077398"/>
            <a:ext cx="1649437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b="true" sz="5199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SOLUTIONS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6519" y="140372"/>
            <a:ext cx="16362488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CHALLENGES FACED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64925" y="9803948"/>
            <a:ext cx="2514600" cy="343864"/>
            <a:chOff x="0" y="0"/>
            <a:chExt cx="662281" cy="9056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90565"/>
            </a:xfrm>
            <a:custGeom>
              <a:avLst/>
              <a:gdLst/>
              <a:ahLst/>
              <a:cxnLst/>
              <a:rect r="r" b="b" t="t" l="l"/>
              <a:pathLst>
                <a:path h="90565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90565"/>
                  </a:lnTo>
                  <a:lnTo>
                    <a:pt x="0" y="90565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38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64925" y="2276559"/>
            <a:ext cx="16494375" cy="8433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4"/>
              </a:lnSpc>
            </a:pPr>
            <a:r>
              <a:rPr lang="en-US" sz="320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Real World Applications</a:t>
            </a:r>
          </a:p>
          <a:p>
            <a:pPr algn="l">
              <a:lnSpc>
                <a:spcPts val="4484"/>
              </a:lnSpc>
            </a:pPr>
            <a:r>
              <a:rPr lang="en-US" sz="3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Background removal and photo editing in media and design tools.</a:t>
            </a:r>
          </a:p>
          <a:p>
            <a:pPr algn="l">
              <a:lnSpc>
                <a:spcPts val="4484"/>
              </a:lnSpc>
            </a:pPr>
            <a:r>
              <a:rPr lang="en-US" sz="3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Autonomous driving systems for object and scene understanding.</a:t>
            </a:r>
          </a:p>
          <a:p>
            <a:pPr algn="l">
              <a:lnSpc>
                <a:spcPts val="4484"/>
              </a:lnSpc>
            </a:pPr>
            <a:r>
              <a:rPr lang="en-US" sz="3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Medical image analysis for isolating regions of interest.</a:t>
            </a:r>
          </a:p>
          <a:p>
            <a:pPr algn="l">
              <a:lnSpc>
                <a:spcPts val="4484"/>
              </a:lnSpc>
            </a:pPr>
            <a:r>
              <a:rPr lang="en-US" sz="3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Surveillance and security systems for object detection.</a:t>
            </a:r>
          </a:p>
          <a:p>
            <a:pPr algn="l">
              <a:lnSpc>
                <a:spcPts val="4484"/>
              </a:lnSpc>
            </a:pPr>
            <a:r>
              <a:rPr lang="en-US" sz="3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Augmented reality applications for real-time subject segmentation.</a:t>
            </a:r>
          </a:p>
          <a:p>
            <a:pPr algn="l">
              <a:lnSpc>
                <a:spcPts val="4484"/>
              </a:lnSpc>
            </a:pPr>
          </a:p>
          <a:p>
            <a:pPr algn="l">
              <a:lnSpc>
                <a:spcPts val="4484"/>
              </a:lnSpc>
            </a:pPr>
            <a:r>
              <a:rPr lang="en-US" sz="320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Scope</a:t>
            </a:r>
          </a:p>
          <a:p>
            <a:pPr algn="l">
              <a:lnSpc>
                <a:spcPts val="4484"/>
              </a:lnSpc>
            </a:pPr>
            <a:r>
              <a:rPr lang="en-US" sz="3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Training advanced deep learning models for higher segmentation accuracy.</a:t>
            </a:r>
          </a:p>
          <a:p>
            <a:pPr algn="l">
              <a:lnSpc>
                <a:spcPts val="4484"/>
              </a:lnSpc>
            </a:pPr>
            <a:r>
              <a:rPr lang="en-US" sz="3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Expanding the system to multi-class segmentation tasks.</a:t>
            </a:r>
          </a:p>
          <a:p>
            <a:pPr algn="l">
              <a:lnSpc>
                <a:spcPts val="4484"/>
              </a:lnSpc>
            </a:pPr>
            <a:r>
              <a:rPr lang="en-US" sz="3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Real-time deployment in mobile and edge devices.</a:t>
            </a:r>
          </a:p>
          <a:p>
            <a:pPr algn="l">
              <a:lnSpc>
                <a:spcPts val="4484"/>
              </a:lnSpc>
            </a:pPr>
            <a:r>
              <a:rPr lang="en-US" sz="3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Integration with AI-powered image and video editing tools.</a:t>
            </a:r>
          </a:p>
          <a:p>
            <a:pPr algn="l">
              <a:lnSpc>
                <a:spcPts val="4484"/>
              </a:lnSpc>
            </a:pPr>
            <a:r>
              <a:rPr lang="en-US" sz="3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Optimization for large-scale datasets and faster processing.</a:t>
            </a:r>
          </a:p>
          <a:p>
            <a:pPr algn="l">
              <a:lnSpc>
                <a:spcPts val="4484"/>
              </a:lnSpc>
            </a:pPr>
          </a:p>
          <a:p>
            <a:pPr algn="l">
              <a:lnSpc>
                <a:spcPts val="4484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64925" y="1320071"/>
            <a:ext cx="1649437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b="true" sz="5199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FUTURE SCOPE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4925" y="363582"/>
            <a:ext cx="16362488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REAL WORLD APPLICATIONS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64925" y="9803948"/>
            <a:ext cx="2514600" cy="343864"/>
            <a:chOff x="0" y="0"/>
            <a:chExt cx="662281" cy="9056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90565"/>
            </a:xfrm>
            <a:custGeom>
              <a:avLst/>
              <a:gdLst/>
              <a:ahLst/>
              <a:cxnLst/>
              <a:rect r="r" b="b" t="t" l="l"/>
              <a:pathLst>
                <a:path h="90565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90565"/>
                  </a:lnTo>
                  <a:lnTo>
                    <a:pt x="0" y="90565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38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16519" y="1576100"/>
            <a:ext cx="17654963" cy="8399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Project Initialization Completed:</a:t>
            </a: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Defined objectives and expected results, and acquired the COCO 2017 dataset with annotated images.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Dataset Exploration:</a:t>
            </a: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Explored dataset structure, inspected image–annotation pairs, and visualized sample images and masks.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Preprocessing Pipeline Implemented:</a:t>
            </a: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Automated pipeline developed for resizing, normalization, augmentation, and binary mask conversion.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Subject Isolation Achieved:</a:t>
            </a: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Successfully isolated subjects from images using generated masks, verifying correct alignment and mask accuracy.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Training-Ready Data Prepared:</a:t>
            </a: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Dataset split into training and validation sets, ensuring ready-to-use data for segmentation model development.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Challenges Overcome: </a:t>
            </a: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Addressed annotation complexity, alignment issues, multi-class masks, and large dataset management through validation, automation, and structured file handling.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Conclusion: </a:t>
            </a: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Milestone 1 successfully established a robust, automated preprocessing system and prepared high-quality, standardized data for the next phase of model training and segmentation development.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16519" y="704598"/>
            <a:ext cx="1765496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b="true" sz="5199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SUMMARY AND CONCLUSION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6519" y="-104775"/>
            <a:ext cx="17654963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MILESTONE 1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065" r="0" b="-945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98500" y="3124200"/>
            <a:ext cx="5245100" cy="1332778"/>
            <a:chOff x="0" y="0"/>
            <a:chExt cx="1381426" cy="3510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81426" cy="351020"/>
            </a:xfrm>
            <a:custGeom>
              <a:avLst/>
              <a:gdLst/>
              <a:ahLst/>
              <a:cxnLst/>
              <a:rect r="r" b="b" t="t" l="l"/>
              <a:pathLst>
                <a:path h="351020" w="1381426">
                  <a:moveTo>
                    <a:pt x="75277" y="0"/>
                  </a:moveTo>
                  <a:lnTo>
                    <a:pt x="1306148" y="0"/>
                  </a:lnTo>
                  <a:cubicBezTo>
                    <a:pt x="1326113" y="0"/>
                    <a:pt x="1345260" y="7931"/>
                    <a:pt x="1359377" y="22048"/>
                  </a:cubicBezTo>
                  <a:cubicBezTo>
                    <a:pt x="1373495" y="36166"/>
                    <a:pt x="1381426" y="55313"/>
                    <a:pt x="1381426" y="75277"/>
                  </a:cubicBezTo>
                  <a:lnTo>
                    <a:pt x="1381426" y="275742"/>
                  </a:lnTo>
                  <a:cubicBezTo>
                    <a:pt x="1381426" y="295707"/>
                    <a:pt x="1373495" y="314854"/>
                    <a:pt x="1359377" y="328971"/>
                  </a:cubicBezTo>
                  <a:cubicBezTo>
                    <a:pt x="1345260" y="343089"/>
                    <a:pt x="1326113" y="351020"/>
                    <a:pt x="1306148" y="351020"/>
                  </a:cubicBezTo>
                  <a:lnTo>
                    <a:pt x="75277" y="351020"/>
                  </a:lnTo>
                  <a:cubicBezTo>
                    <a:pt x="55313" y="351020"/>
                    <a:pt x="36166" y="343089"/>
                    <a:pt x="22048" y="328971"/>
                  </a:cubicBezTo>
                  <a:cubicBezTo>
                    <a:pt x="7931" y="314854"/>
                    <a:pt x="0" y="295707"/>
                    <a:pt x="0" y="275742"/>
                  </a:cubicBezTo>
                  <a:lnTo>
                    <a:pt x="0" y="75277"/>
                  </a:lnTo>
                  <a:cubicBezTo>
                    <a:pt x="0" y="55313"/>
                    <a:pt x="7931" y="36166"/>
                    <a:pt x="22048" y="22048"/>
                  </a:cubicBezTo>
                  <a:cubicBezTo>
                    <a:pt x="36166" y="7931"/>
                    <a:pt x="55313" y="0"/>
                    <a:pt x="7527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381426" cy="39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741400" y="3124200"/>
            <a:ext cx="5118100" cy="1332778"/>
            <a:chOff x="0" y="0"/>
            <a:chExt cx="1347977" cy="3510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47977" cy="351020"/>
            </a:xfrm>
            <a:custGeom>
              <a:avLst/>
              <a:gdLst/>
              <a:ahLst/>
              <a:cxnLst/>
              <a:rect r="r" b="b" t="t" l="l"/>
              <a:pathLst>
                <a:path h="351020" w="1347977">
                  <a:moveTo>
                    <a:pt x="77145" y="0"/>
                  </a:moveTo>
                  <a:lnTo>
                    <a:pt x="1270832" y="0"/>
                  </a:lnTo>
                  <a:cubicBezTo>
                    <a:pt x="1291292" y="0"/>
                    <a:pt x="1310914" y="8128"/>
                    <a:pt x="1325382" y="22595"/>
                  </a:cubicBezTo>
                  <a:cubicBezTo>
                    <a:pt x="1339849" y="37063"/>
                    <a:pt x="1347977" y="56685"/>
                    <a:pt x="1347977" y="77145"/>
                  </a:cubicBezTo>
                  <a:lnTo>
                    <a:pt x="1347977" y="273874"/>
                  </a:lnTo>
                  <a:cubicBezTo>
                    <a:pt x="1347977" y="316480"/>
                    <a:pt x="1313438" y="351020"/>
                    <a:pt x="1270832" y="351020"/>
                  </a:cubicBezTo>
                  <a:lnTo>
                    <a:pt x="77145" y="351020"/>
                  </a:lnTo>
                  <a:cubicBezTo>
                    <a:pt x="34539" y="351020"/>
                    <a:pt x="0" y="316480"/>
                    <a:pt x="0" y="273874"/>
                  </a:cubicBezTo>
                  <a:lnTo>
                    <a:pt x="0" y="77145"/>
                  </a:lnTo>
                  <a:cubicBezTo>
                    <a:pt x="0" y="34539"/>
                    <a:pt x="34539" y="0"/>
                    <a:pt x="7714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347977" cy="39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933297" y="3191597"/>
            <a:ext cx="8421405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616825" y="6705600"/>
            <a:ext cx="3054350" cy="761278"/>
            <a:chOff x="0" y="0"/>
            <a:chExt cx="804438" cy="2005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04438" cy="200501"/>
            </a:xfrm>
            <a:custGeom>
              <a:avLst/>
              <a:gdLst/>
              <a:ahLst/>
              <a:cxnLst/>
              <a:rect r="r" b="b" t="t" l="l"/>
              <a:pathLst>
                <a:path h="200501" w="804438">
                  <a:moveTo>
                    <a:pt x="100251" y="0"/>
                  </a:moveTo>
                  <a:lnTo>
                    <a:pt x="704187" y="0"/>
                  </a:lnTo>
                  <a:cubicBezTo>
                    <a:pt x="730775" y="0"/>
                    <a:pt x="756275" y="10562"/>
                    <a:pt x="775075" y="29363"/>
                  </a:cubicBezTo>
                  <a:cubicBezTo>
                    <a:pt x="793876" y="48163"/>
                    <a:pt x="804438" y="73662"/>
                    <a:pt x="804438" y="100251"/>
                  </a:cubicBezTo>
                  <a:lnTo>
                    <a:pt x="804438" y="100251"/>
                  </a:lnTo>
                  <a:cubicBezTo>
                    <a:pt x="804438" y="155617"/>
                    <a:pt x="759554" y="200501"/>
                    <a:pt x="704187" y="200501"/>
                  </a:cubicBezTo>
                  <a:lnTo>
                    <a:pt x="100251" y="200501"/>
                  </a:lnTo>
                  <a:cubicBezTo>
                    <a:pt x="44884" y="200501"/>
                    <a:pt x="0" y="155617"/>
                    <a:pt x="0" y="100251"/>
                  </a:cubicBezTo>
                  <a:lnTo>
                    <a:pt x="0" y="100251"/>
                  </a:lnTo>
                  <a:cubicBezTo>
                    <a:pt x="0" y="44884"/>
                    <a:pt x="44884" y="0"/>
                    <a:pt x="100251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804438" cy="248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DAHBTROdXe0</dc:identifier>
  <dcterms:modified xsi:type="dcterms:W3CDTF">2011-08-01T06:04:30Z</dcterms:modified>
  <cp:revision>1</cp:revision>
  <dc:title>VisionExtract: Isolation from Images using Image Segmentation</dc:title>
</cp:coreProperties>
</file>