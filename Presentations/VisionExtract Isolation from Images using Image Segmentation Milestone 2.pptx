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League Spartan" charset="1" panose="00000800000000000000"/>
      <p:regular r:id="rId23"/>
    </p:embeddedFont>
    <p:embeddedFont>
      <p:font typeface="Poppins" charset="1" panose="00000500000000000000"/>
      <p:regular r:id="rId24"/>
    </p:embeddedFont>
    <p:embeddedFont>
      <p:font typeface="Roboto" charset="1" panose="02000000000000000000"/>
      <p:regular r:id="rId25"/>
    </p:embeddedFont>
    <p:embeddedFont>
      <p:font typeface="Poppins Bold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564349" y="1990925"/>
            <a:ext cx="13294443" cy="612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VISIONEXTRACT: ISOLATION FROM IMAGES USING IMAGE SEGMENTATION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130303" y="3876923"/>
            <a:ext cx="3086100" cy="2352323"/>
          </a:xfrm>
          <a:custGeom>
            <a:avLst/>
            <a:gdLst/>
            <a:ahLst/>
            <a:cxnLst/>
            <a:rect r="r" b="b" t="t" l="l"/>
            <a:pathLst>
              <a:path h="2352323" w="3086100">
                <a:moveTo>
                  <a:pt x="0" y="0"/>
                </a:moveTo>
                <a:lnTo>
                  <a:pt x="3086100" y="0"/>
                </a:lnTo>
                <a:lnTo>
                  <a:pt x="3086100" y="2352322"/>
                </a:lnTo>
                <a:lnTo>
                  <a:pt x="0" y="2352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67344" y="3876923"/>
            <a:ext cx="3086100" cy="2352323"/>
          </a:xfrm>
          <a:custGeom>
            <a:avLst/>
            <a:gdLst/>
            <a:ahLst/>
            <a:cxnLst/>
            <a:rect r="r" b="b" t="t" l="l"/>
            <a:pathLst>
              <a:path h="2352323" w="3086100">
                <a:moveTo>
                  <a:pt x="0" y="0"/>
                </a:moveTo>
                <a:lnTo>
                  <a:pt x="3086100" y="0"/>
                </a:lnTo>
                <a:lnTo>
                  <a:pt x="3086100" y="2352322"/>
                </a:lnTo>
                <a:lnTo>
                  <a:pt x="0" y="2352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266863" y="1315956"/>
            <a:ext cx="3754274" cy="111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06046" y="2555680"/>
            <a:ext cx="10675908" cy="712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325" indent="-485662" lvl="1">
              <a:lnSpc>
                <a:spcPts val="6299"/>
              </a:lnSpc>
              <a:buFont typeface="Arial"/>
              <a:buChar char="•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Overview of Milestone 2</a:t>
            </a:r>
          </a:p>
          <a:p>
            <a:pPr algn="l" marL="971325" indent="-485662" lvl="1">
              <a:lnSpc>
                <a:spcPts val="6298"/>
              </a:lnSpc>
              <a:buFont typeface="Arial"/>
              <a:buChar char="•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Week 3: Initial Model Training</a:t>
            </a:r>
          </a:p>
          <a:p>
            <a:pPr algn="l" marL="971325" indent="-485662" lvl="1">
              <a:lnSpc>
                <a:spcPts val="6298"/>
              </a:lnSpc>
              <a:buFont typeface="Arial"/>
              <a:buChar char="•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Dataset Preparation</a:t>
            </a:r>
          </a:p>
          <a:p>
            <a:pPr algn="l" marL="971325" indent="-485662" lvl="1">
              <a:lnSpc>
                <a:spcPts val="6298"/>
              </a:lnSpc>
              <a:buFont typeface="Arial"/>
              <a:buChar char="•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U-Net Model Architecture</a:t>
            </a:r>
          </a:p>
          <a:p>
            <a:pPr algn="l" marL="971325" indent="-485662" lvl="1">
              <a:lnSpc>
                <a:spcPts val="6299"/>
              </a:lnSpc>
              <a:buFont typeface="Arial"/>
              <a:buChar char="•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Training Configuration</a:t>
            </a:r>
          </a:p>
          <a:p>
            <a:pPr algn="l" marL="971325" indent="-485662" lvl="1">
              <a:lnSpc>
                <a:spcPts val="6299"/>
              </a:lnSpc>
              <a:buFont typeface="Arial"/>
              <a:buChar char="•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Week 4: Predictions &amp; Fine-Tuning</a:t>
            </a:r>
          </a:p>
          <a:p>
            <a:pPr algn="l" marL="971325" indent="-485662" lvl="1">
              <a:lnSpc>
                <a:spcPts val="6298"/>
              </a:lnSpc>
              <a:buFont typeface="Arial"/>
              <a:buChar char="•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Evaluation Metrics &amp; Results</a:t>
            </a:r>
          </a:p>
          <a:p>
            <a:pPr algn="l" marL="971325" indent="-485662" lvl="1">
              <a:lnSpc>
                <a:spcPts val="6299"/>
              </a:lnSpc>
              <a:buFont typeface="Arial"/>
              <a:buChar char="•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Challenges Faced &amp; Solutions</a:t>
            </a:r>
          </a:p>
          <a:p>
            <a:pPr algn="l" marL="971325" indent="-485662" lvl="1">
              <a:lnSpc>
                <a:spcPts val="6298"/>
              </a:lnSpc>
              <a:buFont typeface="Arial"/>
              <a:buChar char="•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Learnings &amp; 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33309" y="319043"/>
            <a:ext cx="6021381" cy="112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PRESENTATION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908041" y="-180823"/>
            <a:ext cx="6379959" cy="10467823"/>
          </a:xfrm>
          <a:custGeom>
            <a:avLst/>
            <a:gdLst/>
            <a:ahLst/>
            <a:cxnLst/>
            <a:rect r="r" b="b" t="t" l="l"/>
            <a:pathLst>
              <a:path h="10467823" w="6379959">
                <a:moveTo>
                  <a:pt x="0" y="0"/>
                </a:moveTo>
                <a:lnTo>
                  <a:pt x="6379959" y="0"/>
                </a:lnTo>
                <a:lnTo>
                  <a:pt x="6379959" y="10467823"/>
                </a:lnTo>
                <a:lnTo>
                  <a:pt x="0" y="104678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182442" y="3237851"/>
            <a:ext cx="4652983" cy="169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79"/>
              </a:lnSpc>
            </a:pPr>
            <a:r>
              <a:rPr lang="en-US" sz="31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Applied fine-tuning techniques to improve boundary accuracy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12307" y="6445272"/>
            <a:ext cx="4993253" cy="225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79"/>
              </a:lnSpc>
            </a:pPr>
            <a:r>
              <a:rPr lang="en-US" sz="31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Validated model performance on unseen test data to ensure generalization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973910" y="3184827"/>
            <a:ext cx="1868262" cy="1868262"/>
          </a:xfrm>
          <a:custGeom>
            <a:avLst/>
            <a:gdLst/>
            <a:ahLst/>
            <a:cxnLst/>
            <a:rect r="r" b="b" t="t" l="l"/>
            <a:pathLst>
              <a:path h="1868262" w="1868262">
                <a:moveTo>
                  <a:pt x="0" y="0"/>
                </a:moveTo>
                <a:lnTo>
                  <a:pt x="1868262" y="0"/>
                </a:lnTo>
                <a:lnTo>
                  <a:pt x="1868262" y="1868262"/>
                </a:lnTo>
                <a:lnTo>
                  <a:pt x="0" y="18682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73910" y="6680160"/>
            <a:ext cx="1868262" cy="1868262"/>
          </a:xfrm>
          <a:custGeom>
            <a:avLst/>
            <a:gdLst/>
            <a:ahLst/>
            <a:cxnLst/>
            <a:rect r="r" b="b" t="t" l="l"/>
            <a:pathLst>
              <a:path h="1868262" w="1868262">
                <a:moveTo>
                  <a:pt x="0" y="0"/>
                </a:moveTo>
                <a:lnTo>
                  <a:pt x="1868262" y="0"/>
                </a:lnTo>
                <a:lnTo>
                  <a:pt x="1868262" y="1868262"/>
                </a:lnTo>
                <a:lnTo>
                  <a:pt x="0" y="18682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970540" y="1825523"/>
            <a:ext cx="1601934" cy="6647488"/>
          </a:xfrm>
          <a:custGeom>
            <a:avLst/>
            <a:gdLst/>
            <a:ahLst/>
            <a:cxnLst/>
            <a:rect r="r" b="b" t="t" l="l"/>
            <a:pathLst>
              <a:path h="6647488" w="1601934">
                <a:moveTo>
                  <a:pt x="0" y="0"/>
                </a:moveTo>
                <a:lnTo>
                  <a:pt x="1601933" y="0"/>
                </a:lnTo>
                <a:lnTo>
                  <a:pt x="1601933" y="6647488"/>
                </a:lnTo>
                <a:lnTo>
                  <a:pt x="0" y="66474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088624" y="3541468"/>
            <a:ext cx="1638833" cy="1343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88624" y="6986664"/>
            <a:ext cx="1638833" cy="1343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10280" y="3237851"/>
            <a:ext cx="6231751" cy="169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79"/>
              </a:lnSpc>
            </a:pPr>
            <a:r>
              <a:rPr lang="en-US" sz="31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Designed and trained a semantic segmentation model for subject isolation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05952" y="6726260"/>
            <a:ext cx="6231751" cy="169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79"/>
              </a:lnSpc>
            </a:pPr>
            <a:r>
              <a:rPr lang="en-US" sz="31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Performed quantitative and qualitative evaluation of segmentation performance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43020" y="319043"/>
            <a:ext cx="5201960" cy="112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21827" y="1315956"/>
            <a:ext cx="4844345" cy="111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667830" y="1129913"/>
            <a:ext cx="10952340" cy="111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INITIAL MODEL TRAINING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96034" y="2495230"/>
            <a:ext cx="14295933" cy="706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</a:t>
            </a:r>
          </a:p>
          <a:p>
            <a:pPr algn="l">
              <a:lnSpc>
                <a:spcPts val="5598"/>
              </a:lnSpc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train a deep learning model capable of accurately separating foreground subjects from the background at the pixel level.</a:t>
            </a:r>
          </a:p>
          <a:p>
            <a:pPr algn="l">
              <a:lnSpc>
                <a:spcPts val="5598"/>
              </a:lnSpc>
            </a:pPr>
          </a:p>
          <a:p>
            <a:pPr algn="l">
              <a:lnSpc>
                <a:spcPts val="5598"/>
              </a:lnSpc>
            </a:pPr>
            <a:r>
              <a:rPr lang="en-US" sz="399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Aspects:</a:t>
            </a:r>
          </a:p>
          <a:p>
            <a:pPr algn="l" marL="863378" indent="-431689" lvl="1">
              <a:lnSpc>
                <a:spcPts val="5598"/>
              </a:lnSpc>
              <a:buFont typeface="Arial"/>
              <a:buChar char="•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Type: U-Net convolutional neural network</a:t>
            </a:r>
          </a:p>
          <a:p>
            <a:pPr algn="l" marL="863378" indent="-431689" lvl="1">
              <a:lnSpc>
                <a:spcPts val="5598"/>
              </a:lnSpc>
              <a:buFont typeface="Arial"/>
              <a:buChar char="•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Task: Binary image segmentation</a:t>
            </a:r>
          </a:p>
          <a:p>
            <a:pPr algn="l" marL="863378" indent="-431689" lvl="1">
              <a:lnSpc>
                <a:spcPts val="5599"/>
              </a:lnSpc>
              <a:buFont typeface="Arial"/>
              <a:buChar char="•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Output: Pixel-wise classification (foreground vs background)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30301" y="133000"/>
            <a:ext cx="3027398" cy="112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WEEK 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30268" y="5143500"/>
            <a:ext cx="6254391" cy="2832177"/>
          </a:xfrm>
          <a:custGeom>
            <a:avLst/>
            <a:gdLst/>
            <a:ahLst/>
            <a:cxnLst/>
            <a:rect r="r" b="b" t="t" l="l"/>
            <a:pathLst>
              <a:path h="2832177" w="6254391">
                <a:moveTo>
                  <a:pt x="0" y="0"/>
                </a:moveTo>
                <a:lnTo>
                  <a:pt x="6254391" y="0"/>
                </a:lnTo>
                <a:lnTo>
                  <a:pt x="6254391" y="2832177"/>
                </a:lnTo>
                <a:lnTo>
                  <a:pt x="0" y="28321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30268" y="3745342"/>
            <a:ext cx="6254391" cy="883389"/>
          </a:xfrm>
          <a:custGeom>
            <a:avLst/>
            <a:gdLst/>
            <a:ahLst/>
            <a:cxnLst/>
            <a:rect r="r" b="b" t="t" l="l"/>
            <a:pathLst>
              <a:path h="883389" w="6254391">
                <a:moveTo>
                  <a:pt x="0" y="0"/>
                </a:moveTo>
                <a:lnTo>
                  <a:pt x="6254391" y="0"/>
                </a:lnTo>
                <a:lnTo>
                  <a:pt x="6254391" y="883389"/>
                </a:lnTo>
                <a:lnTo>
                  <a:pt x="0" y="8833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560504" y="1129913"/>
            <a:ext cx="9166993" cy="111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PREPARATION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00719"/>
            <a:ext cx="8653738" cy="619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430" indent="-377715" lvl="1">
              <a:lnSpc>
                <a:spcPts val="4898"/>
              </a:lnSpc>
              <a:buFont typeface="Arial"/>
              <a:buChar char="•"/>
            </a:pPr>
            <a:r>
              <a:rPr lang="en-US" b="true" sz="34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Used: 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COCO 2017 – val2017</a:t>
            </a:r>
          </a:p>
          <a:p>
            <a:pPr algn="l" marL="755430" indent="-377715" lvl="1">
              <a:lnSpc>
                <a:spcPts val="4898"/>
              </a:lnSpc>
              <a:buFont typeface="Arial"/>
              <a:buChar char="•"/>
            </a:pPr>
            <a:r>
              <a:rPr lang="en-US" b="true" sz="34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Total Images: 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5000</a:t>
            </a:r>
          </a:p>
          <a:p>
            <a:pPr algn="l" marL="755430" indent="-377715" lvl="1">
              <a:lnSpc>
                <a:spcPts val="4898"/>
              </a:lnSpc>
              <a:buFont typeface="Arial"/>
              <a:buChar char="•"/>
            </a:pPr>
            <a:r>
              <a:rPr lang="en-US" b="true" sz="34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Split:</a:t>
            </a:r>
          </a:p>
          <a:p>
            <a:pPr algn="l" marL="1510861" indent="-503620" lvl="2">
              <a:lnSpc>
                <a:spcPts val="4898"/>
              </a:lnSpc>
              <a:buFont typeface="Arial"/>
              <a:buChar char="⚬"/>
            </a:pPr>
            <a:r>
              <a:rPr lang="en-US" b="true" sz="34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Training: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70% (3500 images)</a:t>
            </a:r>
          </a:p>
          <a:p>
            <a:pPr algn="l" marL="1510861" indent="-503620" lvl="2">
              <a:lnSpc>
                <a:spcPts val="4898"/>
              </a:lnSpc>
              <a:buFont typeface="Arial"/>
              <a:buChar char="⚬"/>
            </a:pPr>
            <a:r>
              <a:rPr lang="en-US" b="true" sz="34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Validation: 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15% (750 images)</a:t>
            </a:r>
          </a:p>
          <a:p>
            <a:pPr algn="l" marL="1510861" indent="-503620" lvl="2">
              <a:lnSpc>
                <a:spcPts val="4898"/>
              </a:lnSpc>
              <a:buFont typeface="Arial"/>
              <a:buChar char="⚬"/>
            </a:pPr>
            <a:r>
              <a:rPr lang="en-US" b="true" sz="34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Testing: 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15% (750 images)</a:t>
            </a:r>
          </a:p>
          <a:p>
            <a:pPr algn="l" marL="755430" indent="-377715" lvl="1">
              <a:lnSpc>
                <a:spcPts val="4898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Random shuffling ensured unbiased data distribution</a:t>
            </a:r>
          </a:p>
          <a:p>
            <a:pPr algn="l" marL="755430" indent="-377715" lvl="1">
              <a:lnSpc>
                <a:spcPts val="4899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Gro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und-truth masks used for supervised learning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30301" y="133000"/>
            <a:ext cx="3027398" cy="112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WEEK 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83972" y="3157597"/>
            <a:ext cx="7146983" cy="5379087"/>
            <a:chOff x="0" y="0"/>
            <a:chExt cx="10388397" cy="78186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88346" cy="7818670"/>
            </a:xfrm>
            <a:custGeom>
              <a:avLst/>
              <a:gdLst/>
              <a:ahLst/>
              <a:cxnLst/>
              <a:rect r="r" b="b" t="t" l="l"/>
              <a:pathLst>
                <a:path h="7818670" w="10388346">
                  <a:moveTo>
                    <a:pt x="0" y="0"/>
                  </a:moveTo>
                  <a:lnTo>
                    <a:pt x="10388346" y="0"/>
                  </a:lnTo>
                  <a:lnTo>
                    <a:pt x="10388346" y="7818670"/>
                  </a:lnTo>
                  <a:lnTo>
                    <a:pt x="0" y="7818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4995" r="0" b="-34995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9983972" y="3157597"/>
            <a:ext cx="7146948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9983972" y="8517634"/>
            <a:ext cx="7200767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5157" y="1122781"/>
            <a:ext cx="12737687" cy="111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U-NET MODEL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75157" y="2901960"/>
            <a:ext cx="13322251" cy="635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378" indent="-431689" lvl="1">
              <a:lnSpc>
                <a:spcPts val="5598"/>
              </a:lnSpc>
              <a:buFont typeface="Arial"/>
              <a:buChar char="•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Encoder–Decoder based architecture</a:t>
            </a:r>
          </a:p>
          <a:p>
            <a:pPr algn="l" marL="863378" indent="-431689" lvl="1">
              <a:lnSpc>
                <a:spcPts val="5598"/>
              </a:lnSpc>
              <a:buFont typeface="Arial"/>
              <a:buChar char="•"/>
            </a:pPr>
            <a:r>
              <a:rPr lang="en-US" b="true" sz="3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Encoder: 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Extracts high-level c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ontextual features through convolution and pooling</a:t>
            </a:r>
          </a:p>
          <a:p>
            <a:pPr algn="l" marL="863378" indent="-431689" lvl="1">
              <a:lnSpc>
                <a:spcPts val="5598"/>
              </a:lnSpc>
              <a:buFont typeface="Arial"/>
              <a:buChar char="•"/>
            </a:pPr>
            <a:r>
              <a:rPr lang="en-US" b="true" sz="3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Decoder: 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Restores spatial resolution using up-sampling layers</a:t>
            </a:r>
          </a:p>
          <a:p>
            <a:pPr algn="l" marL="863378" indent="-431689" lvl="1">
              <a:lnSpc>
                <a:spcPts val="5598"/>
              </a:lnSpc>
              <a:buFont typeface="Arial"/>
              <a:buChar char="•"/>
            </a:pPr>
            <a:r>
              <a:rPr lang="en-US" b="true" sz="3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Skip Conn</a:t>
            </a:r>
            <a:r>
              <a:rPr lang="en-US" b="true" sz="3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ections: 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Transfer fine-grained features from encoder to decoder</a:t>
            </a:r>
          </a:p>
          <a:p>
            <a:pPr algn="l" marL="863378" indent="-431689" lvl="1">
              <a:lnSpc>
                <a:spcPts val="5599"/>
              </a:lnSpc>
              <a:buFont typeface="Arial"/>
              <a:buChar char="•"/>
            </a:pPr>
            <a:r>
              <a:rPr lang="en-US" b="true" sz="3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Output: 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Bina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ry segme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ntation mask highlighting subject regions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30301" y="133000"/>
            <a:ext cx="3027398" cy="112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WEEK 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04701" y="2613030"/>
            <a:ext cx="11678598" cy="4946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378" indent="-431689" lvl="1">
              <a:lnSpc>
                <a:spcPts val="5598"/>
              </a:lnSpc>
              <a:buFont typeface="Arial"/>
              <a:buChar char="•"/>
            </a:pPr>
            <a:r>
              <a:rPr lang="en-US" b="true" sz="3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Loss Function: 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nary Cross-Entropy (BCE)</a:t>
            </a:r>
          </a:p>
          <a:p>
            <a:pPr algn="l" marL="863378" indent="-431689" lvl="1">
              <a:lnSpc>
                <a:spcPts val="5598"/>
              </a:lnSpc>
              <a:buFont typeface="Arial"/>
              <a:buChar char="•"/>
            </a:pPr>
            <a:r>
              <a:rPr lang="en-US" b="true" sz="3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Optimizer: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Adam Optimizer</a:t>
            </a:r>
          </a:p>
          <a:p>
            <a:pPr algn="l" marL="863378" indent="-431689" lvl="1">
              <a:lnSpc>
                <a:spcPts val="5598"/>
              </a:lnSpc>
              <a:buFont typeface="Arial"/>
              <a:buChar char="•"/>
            </a:pPr>
            <a:r>
              <a:rPr lang="en-US" b="true" sz="3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Learning Rate: 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0.0001</a:t>
            </a:r>
          </a:p>
          <a:p>
            <a:pPr algn="l" marL="863378" indent="-431689" lvl="1">
              <a:lnSpc>
                <a:spcPts val="5598"/>
              </a:lnSpc>
              <a:buFont typeface="Arial"/>
              <a:buChar char="•"/>
            </a:pPr>
            <a:r>
              <a:rPr lang="en-US" b="true" sz="3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Batch </a:t>
            </a:r>
            <a:r>
              <a:rPr lang="en-US" b="true" sz="3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Siz</a:t>
            </a:r>
            <a:r>
              <a:rPr lang="en-US" b="true" sz="3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e: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</a:p>
          <a:p>
            <a:pPr algn="l" marL="863378" indent="-431689" lvl="1">
              <a:lnSpc>
                <a:spcPts val="5598"/>
              </a:lnSpc>
              <a:buFont typeface="Arial"/>
              <a:buChar char="•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Training performed over multiple epochs</a:t>
            </a:r>
          </a:p>
          <a:p>
            <a:pPr algn="l" marL="863378" indent="-431689" lvl="1">
              <a:lnSpc>
                <a:spcPts val="5599"/>
              </a:lnSpc>
              <a:buFont typeface="Arial"/>
              <a:buChar char="•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Valida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ion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loss mo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nitored to track learning progress and avoid overfitting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48765" y="8359225"/>
            <a:ext cx="10190470" cy="1139179"/>
          </a:xfrm>
          <a:custGeom>
            <a:avLst/>
            <a:gdLst/>
            <a:ahLst/>
            <a:cxnLst/>
            <a:rect r="r" b="b" t="t" l="l"/>
            <a:pathLst>
              <a:path h="1139179" w="10190470">
                <a:moveTo>
                  <a:pt x="0" y="0"/>
                </a:moveTo>
                <a:lnTo>
                  <a:pt x="10190470" y="0"/>
                </a:lnTo>
                <a:lnTo>
                  <a:pt x="10190470" y="1139179"/>
                </a:lnTo>
                <a:lnTo>
                  <a:pt x="0" y="1139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83628" y="1129913"/>
            <a:ext cx="11320744" cy="111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TRAINING DETAILS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30301" y="133000"/>
            <a:ext cx="3027398" cy="112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WEEK 3</a:t>
            </a:r>
          </a:p>
        </p:txBody>
      </p:sp>
      <p:sp>
        <p:nvSpPr>
          <p:cNvPr name="AutoShape 6" id="6"/>
          <p:cNvSpPr/>
          <p:nvPr/>
        </p:nvSpPr>
        <p:spPr>
          <a:xfrm>
            <a:off x="3841839" y="8197027"/>
            <a:ext cx="10658297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3841839" y="9660329"/>
            <a:ext cx="10629918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841839" y="8168452"/>
            <a:ext cx="10604322" cy="1520726"/>
            <a:chOff x="0" y="0"/>
            <a:chExt cx="15413763" cy="22104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13687" cy="2210423"/>
            </a:xfrm>
            <a:custGeom>
              <a:avLst/>
              <a:gdLst/>
              <a:ahLst/>
              <a:cxnLst/>
              <a:rect r="r" b="b" t="t" l="l"/>
              <a:pathLst>
                <a:path h="2210423" w="15413687">
                  <a:moveTo>
                    <a:pt x="0" y="0"/>
                  </a:moveTo>
                  <a:lnTo>
                    <a:pt x="15413687" y="0"/>
                  </a:lnTo>
                  <a:lnTo>
                    <a:pt x="15413687" y="2210423"/>
                  </a:lnTo>
                  <a:lnTo>
                    <a:pt x="0" y="2210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96079" r="0" b="-396081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65473"/>
            <a:ext cx="16230600" cy="5106531"/>
          </a:xfrm>
          <a:custGeom>
            <a:avLst/>
            <a:gdLst/>
            <a:ahLst/>
            <a:cxnLst/>
            <a:rect r="r" b="b" t="t" l="l"/>
            <a:pathLst>
              <a:path h="5106531" w="16230600">
                <a:moveTo>
                  <a:pt x="0" y="0"/>
                </a:moveTo>
                <a:lnTo>
                  <a:pt x="16230600" y="0"/>
                </a:lnTo>
                <a:lnTo>
                  <a:pt x="16230600" y="5106531"/>
                </a:lnTo>
                <a:lnTo>
                  <a:pt x="0" y="5106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44" t="-3887" r="-944" b="-419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845" y="1135211"/>
            <a:ext cx="15430309" cy="111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EARLY PREDICTION VISUALIZATION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45819" y="122443"/>
            <a:ext cx="2996361" cy="112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8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WEEK 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16581" y="7508443"/>
            <a:ext cx="14454838" cy="248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430" indent="-377715" lvl="1">
              <a:lnSpc>
                <a:spcPts val="4898"/>
              </a:lnSpc>
              <a:buFont typeface="Arial"/>
              <a:buChar char="•"/>
            </a:pPr>
            <a:r>
              <a:rPr lang="en-US" sz="34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34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enerated predictions during early training epochs</a:t>
            </a:r>
          </a:p>
          <a:p>
            <a:pPr algn="l" marL="755430" indent="-377715" lvl="1">
              <a:lnSpc>
                <a:spcPts val="4899"/>
              </a:lnSpc>
              <a:buFont typeface="Arial"/>
              <a:buChar char="•"/>
            </a:pPr>
            <a:r>
              <a:rPr lang="en-US" sz="34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Compared predicted masks with ground-truth masks</a:t>
            </a:r>
          </a:p>
          <a:p>
            <a:pPr algn="l" marL="755430" indent="-377715" lvl="1">
              <a:lnSpc>
                <a:spcPts val="4898"/>
              </a:lnSpc>
              <a:buFont typeface="Arial"/>
              <a:buChar char="•"/>
            </a:pPr>
            <a:r>
              <a:rPr lang="en-US" sz="34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Verified correct learning of subject regions</a:t>
            </a:r>
          </a:p>
          <a:p>
            <a:pPr algn="l" marL="755430" indent="-377715" lvl="1">
              <a:lnSpc>
                <a:spcPts val="4899"/>
              </a:lnSpc>
              <a:buFont typeface="Arial"/>
              <a:buChar char="•"/>
            </a:pPr>
            <a:r>
              <a:rPr lang="en-US" sz="34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Ensured proper data flow and correctness of training pipeline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193306" y="1129913"/>
            <a:ext cx="13901388" cy="111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PREDICTIONS AND FINE-TUNING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94670" y="2608655"/>
            <a:ext cx="14098660" cy="635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</a:t>
            </a:r>
          </a:p>
          <a:p>
            <a:pPr algn="l">
              <a:lnSpc>
                <a:spcPts val="5598"/>
              </a:lnSpc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enhance segmentation accuracy and mask quality through evaluation and fine-tuning.</a:t>
            </a:r>
          </a:p>
          <a:p>
            <a:pPr algn="l">
              <a:lnSpc>
                <a:spcPts val="5598"/>
              </a:lnSpc>
            </a:pPr>
          </a:p>
          <a:p>
            <a:pPr algn="l">
              <a:lnSpc>
                <a:spcPts val="5598"/>
              </a:lnSpc>
            </a:pPr>
            <a:r>
              <a:rPr lang="en-US" sz="399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Tasks Performed:</a:t>
            </a:r>
          </a:p>
          <a:p>
            <a:pPr algn="l" marL="863378" indent="-431689" lvl="1">
              <a:lnSpc>
                <a:spcPts val="5598"/>
              </a:lnSpc>
              <a:buFont typeface="Arial"/>
              <a:buChar char="•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Generated predictions on validation data</a:t>
            </a:r>
          </a:p>
          <a:p>
            <a:pPr algn="l" marL="863378" indent="-431689" lvl="1">
              <a:lnSpc>
                <a:spcPts val="5598"/>
              </a:lnSpc>
              <a:buFont typeface="Arial"/>
              <a:buChar char="•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Evaluated performance using standard segmentation metrics</a:t>
            </a:r>
          </a:p>
          <a:p>
            <a:pPr algn="l" marL="863378" indent="-431689" lvl="1">
              <a:lnSpc>
                <a:spcPts val="5599"/>
              </a:lnSpc>
              <a:buFont typeface="Arial"/>
              <a:buChar char="•"/>
            </a:pPr>
            <a:r>
              <a:rPr lang="en-US" sz="3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Applied fine-tuning strategies to improve 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30301" y="133000"/>
            <a:ext cx="3027398" cy="112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WEEK 4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90300" y="3033203"/>
            <a:ext cx="9103327" cy="5827831"/>
          </a:xfrm>
          <a:custGeom>
            <a:avLst/>
            <a:gdLst/>
            <a:ahLst/>
            <a:cxnLst/>
            <a:rect r="r" b="b" t="t" l="l"/>
            <a:pathLst>
              <a:path h="5827831" w="9103327">
                <a:moveTo>
                  <a:pt x="0" y="0"/>
                </a:moveTo>
                <a:lnTo>
                  <a:pt x="9103327" y="0"/>
                </a:lnTo>
                <a:lnTo>
                  <a:pt x="9103327" y="5827831"/>
                </a:lnTo>
                <a:lnTo>
                  <a:pt x="0" y="58278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71697" y="1122781"/>
            <a:ext cx="12144606" cy="111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EVALUATION METRICS USED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8343" y="3289644"/>
            <a:ext cx="8511957" cy="5238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483" indent="-323742" lvl="1">
              <a:lnSpc>
                <a:spcPts val="4198"/>
              </a:lnSpc>
              <a:buFont typeface="Arial"/>
              <a:buChar char="•"/>
            </a:pPr>
            <a:r>
              <a:rPr lang="en-US" b="true" sz="2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Intersection over Union (IoU):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Measures overl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 between predicted and ground-truth masks</a:t>
            </a:r>
          </a:p>
          <a:p>
            <a:pPr algn="l" marL="647483" indent="-323742" lvl="1">
              <a:lnSpc>
                <a:spcPts val="4198"/>
              </a:lnSpc>
              <a:buFont typeface="Arial"/>
              <a:buChar char="•"/>
            </a:pPr>
            <a:r>
              <a:rPr lang="en-US" b="true" sz="2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2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ice Coefficient: 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Evaluates similarity betwe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 two segmentation outputs</a:t>
            </a:r>
          </a:p>
          <a:p>
            <a:pPr algn="l" marL="647483" indent="-323742" lvl="1">
              <a:lnSpc>
                <a:spcPts val="4198"/>
              </a:lnSpc>
              <a:buFont typeface="Arial"/>
              <a:buChar char="•"/>
            </a:pPr>
            <a:r>
              <a:rPr lang="en-US" b="true" sz="2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Pixel-wise Accuracy: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Computes proportion 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 co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rrectly classified pixels</a:t>
            </a:r>
          </a:p>
          <a:p>
            <a:pPr algn="l">
              <a:lnSpc>
                <a:spcPts val="4198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These metrics collectively assess segmentation quality and reliability.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30301" y="133000"/>
            <a:ext cx="3027398" cy="112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WEEK 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983972" y="3157597"/>
            <a:ext cx="7146948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983972" y="8517634"/>
            <a:ext cx="7146948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934196" y="3685932"/>
            <a:ext cx="5114400" cy="1478571"/>
          </a:xfrm>
          <a:custGeom>
            <a:avLst/>
            <a:gdLst/>
            <a:ahLst/>
            <a:cxnLst/>
            <a:rect r="r" b="b" t="t" l="l"/>
            <a:pathLst>
              <a:path h="1478571" w="5114400">
                <a:moveTo>
                  <a:pt x="0" y="0"/>
                </a:moveTo>
                <a:lnTo>
                  <a:pt x="5114399" y="0"/>
                </a:lnTo>
                <a:lnTo>
                  <a:pt x="5114399" y="1478571"/>
                </a:lnTo>
                <a:lnTo>
                  <a:pt x="0" y="1478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57699" y="5659803"/>
            <a:ext cx="5667393" cy="2304034"/>
          </a:xfrm>
          <a:custGeom>
            <a:avLst/>
            <a:gdLst/>
            <a:ahLst/>
            <a:cxnLst/>
            <a:rect r="r" b="b" t="t" l="l"/>
            <a:pathLst>
              <a:path h="2304034" w="5667393">
                <a:moveTo>
                  <a:pt x="0" y="0"/>
                </a:moveTo>
                <a:lnTo>
                  <a:pt x="5667393" y="0"/>
                </a:lnTo>
                <a:lnTo>
                  <a:pt x="5667393" y="2304033"/>
                </a:lnTo>
                <a:lnTo>
                  <a:pt x="0" y="2304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07585" y="1170406"/>
            <a:ext cx="14072830" cy="111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VALIDATION RESULTS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00719"/>
            <a:ext cx="8653738" cy="619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430" indent="-377715" lvl="1">
              <a:lnSpc>
                <a:spcPts val="4898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Predicted masks visual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ly compared with ground-truth masks</a:t>
            </a:r>
          </a:p>
          <a:p>
            <a:pPr algn="l" marL="755430" indent="-377715" lvl="1">
              <a:lnSpc>
                <a:spcPts val="4898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Observe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accurate subj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ect extraction with minor boundary imperfections</a:t>
            </a:r>
          </a:p>
          <a:p>
            <a:pPr algn="l" marL="755430" indent="-377715" lvl="1">
              <a:lnSpc>
                <a:spcPts val="4898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Detected noise in complex background regions</a:t>
            </a:r>
          </a:p>
          <a:p>
            <a:pPr algn="l" marL="755430" indent="-377715" lvl="1">
              <a:lnSpc>
                <a:spcPts val="4899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nsights from validation guided fine-tuning decisions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30301" y="133000"/>
            <a:ext cx="3027398" cy="112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WEEK 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83972" y="3157597"/>
            <a:ext cx="7146983" cy="5379087"/>
            <a:chOff x="0" y="0"/>
            <a:chExt cx="10388397" cy="78186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88346" cy="7818670"/>
            </a:xfrm>
            <a:custGeom>
              <a:avLst/>
              <a:gdLst/>
              <a:ahLst/>
              <a:cxnLst/>
              <a:rect r="r" b="b" t="t" l="l"/>
              <a:pathLst>
                <a:path h="7818670" w="10388346">
                  <a:moveTo>
                    <a:pt x="0" y="0"/>
                  </a:moveTo>
                  <a:lnTo>
                    <a:pt x="10388346" y="0"/>
                  </a:lnTo>
                  <a:lnTo>
                    <a:pt x="10388346" y="7818670"/>
                  </a:lnTo>
                  <a:lnTo>
                    <a:pt x="0" y="7818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4995" r="0" b="-34995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983972" y="3157597"/>
            <a:ext cx="7146948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983972" y="8517634"/>
            <a:ext cx="7146948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934196" y="3685932"/>
            <a:ext cx="5114400" cy="1478571"/>
          </a:xfrm>
          <a:custGeom>
            <a:avLst/>
            <a:gdLst/>
            <a:ahLst/>
            <a:cxnLst/>
            <a:rect r="r" b="b" t="t" l="l"/>
            <a:pathLst>
              <a:path h="1478571" w="5114400">
                <a:moveTo>
                  <a:pt x="0" y="0"/>
                </a:moveTo>
                <a:lnTo>
                  <a:pt x="5114399" y="0"/>
                </a:lnTo>
                <a:lnTo>
                  <a:pt x="5114399" y="1478571"/>
                </a:lnTo>
                <a:lnTo>
                  <a:pt x="0" y="1478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57699" y="5659803"/>
            <a:ext cx="5667393" cy="2304034"/>
          </a:xfrm>
          <a:custGeom>
            <a:avLst/>
            <a:gdLst/>
            <a:ahLst/>
            <a:cxnLst/>
            <a:rect r="r" b="b" t="t" l="l"/>
            <a:pathLst>
              <a:path h="2304034" w="5667393">
                <a:moveTo>
                  <a:pt x="0" y="0"/>
                </a:moveTo>
                <a:lnTo>
                  <a:pt x="5667393" y="0"/>
                </a:lnTo>
                <a:lnTo>
                  <a:pt x="5667393" y="2304033"/>
                </a:lnTo>
                <a:lnTo>
                  <a:pt x="0" y="2304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22384" y="1189456"/>
            <a:ext cx="10443232" cy="111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FINE-TUNING STRATEGY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319828"/>
            <a:ext cx="8653738" cy="4959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430" indent="-377715" lvl="1">
              <a:lnSpc>
                <a:spcPts val="4898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Introduced combined loss function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(BCE + Dice Loss)</a:t>
            </a:r>
          </a:p>
          <a:p>
            <a:pPr algn="l" marL="755430" indent="-377715" lvl="1">
              <a:lnSpc>
                <a:spcPts val="4898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Reduced learning rate for more sta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ble weight up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dates</a:t>
            </a:r>
          </a:p>
          <a:p>
            <a:pPr algn="l" marL="755430" indent="-377715" lvl="1">
              <a:lnSpc>
                <a:spcPts val="4898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Increas</a:t>
            </a: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 training epochs to refine feature learning</a:t>
            </a:r>
          </a:p>
          <a:p>
            <a:pPr algn="l" marL="755430" indent="-377715" lvl="1">
              <a:lnSpc>
                <a:spcPts val="4898"/>
              </a:lnSpc>
              <a:buFont typeface="Arial"/>
              <a:buChar char="•"/>
            </a:pPr>
            <a:r>
              <a:rPr lang="en-US" sz="3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Focused on improving boundary precision and mask smoothness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30301" y="133000"/>
            <a:ext cx="3027398" cy="112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WEEK 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83972" y="3157597"/>
            <a:ext cx="7146983" cy="5379087"/>
            <a:chOff x="0" y="0"/>
            <a:chExt cx="10388397" cy="78186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88346" cy="7818670"/>
            </a:xfrm>
            <a:custGeom>
              <a:avLst/>
              <a:gdLst/>
              <a:ahLst/>
              <a:cxnLst/>
              <a:rect r="r" b="b" t="t" l="l"/>
              <a:pathLst>
                <a:path h="7818670" w="10388346">
                  <a:moveTo>
                    <a:pt x="0" y="0"/>
                  </a:moveTo>
                  <a:lnTo>
                    <a:pt x="10388346" y="0"/>
                  </a:lnTo>
                  <a:lnTo>
                    <a:pt x="10388346" y="7818670"/>
                  </a:lnTo>
                  <a:lnTo>
                    <a:pt x="0" y="7818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4995" r="0" b="-34995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6931" y="2303573"/>
            <a:ext cx="16834138" cy="4213609"/>
          </a:xfrm>
          <a:custGeom>
            <a:avLst/>
            <a:gdLst/>
            <a:ahLst/>
            <a:cxnLst/>
            <a:rect r="r" b="b" t="t" l="l"/>
            <a:pathLst>
              <a:path h="4213609" w="16834138">
                <a:moveTo>
                  <a:pt x="0" y="0"/>
                </a:moveTo>
                <a:lnTo>
                  <a:pt x="16834138" y="0"/>
                </a:lnTo>
                <a:lnTo>
                  <a:pt x="16834138" y="4213610"/>
                </a:lnTo>
                <a:lnTo>
                  <a:pt x="0" y="4213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1" t="0" r="-31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79400" y="1154261"/>
            <a:ext cx="9929199" cy="111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SET EVALUATION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45819" y="122443"/>
            <a:ext cx="2996361" cy="112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8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WEEK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33640" y="6992781"/>
            <a:ext cx="11420721" cy="256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020" indent="-388510" lvl="1">
              <a:lnSpc>
                <a:spcPts val="5038"/>
              </a:lnSpc>
              <a:buFont typeface="Arial"/>
              <a:buChar char="•"/>
            </a:pPr>
            <a:r>
              <a:rPr lang="en-US" sz="35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Evalu</a:t>
            </a:r>
            <a:r>
              <a:rPr lang="en-US" sz="35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ated model on unseen test dataset (15%)</a:t>
            </a:r>
          </a:p>
          <a:p>
            <a:pPr algn="l" marL="777020" indent="-388510" lvl="1">
              <a:lnSpc>
                <a:spcPts val="5039"/>
              </a:lnSpc>
              <a:buFont typeface="Arial"/>
              <a:buChar char="•"/>
            </a:pPr>
            <a:r>
              <a:rPr lang="en-US" sz="35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Computed IoU, Dice, and Pixel Accuracy</a:t>
            </a:r>
          </a:p>
          <a:p>
            <a:pPr algn="l" marL="777020" indent="-388510" lvl="1">
              <a:lnSpc>
                <a:spcPts val="5038"/>
              </a:lnSpc>
              <a:buFont typeface="Arial"/>
              <a:buChar char="•"/>
            </a:pPr>
            <a:r>
              <a:rPr lang="en-US" sz="35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Con</a:t>
            </a:r>
            <a:r>
              <a:rPr lang="en-US" sz="35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firmed strong generalization capability</a:t>
            </a:r>
          </a:p>
          <a:p>
            <a:pPr algn="l" marL="777020" indent="-388510" lvl="1">
              <a:lnSpc>
                <a:spcPts val="5039"/>
              </a:lnSpc>
              <a:buFont typeface="Arial"/>
              <a:buChar char="•"/>
            </a:pPr>
            <a:r>
              <a:rPr lang="en-US" sz="35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35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erified absence of overfitting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67493" y="1122781"/>
            <a:ext cx="6953014" cy="111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OUTCOMES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97053" y="2835723"/>
            <a:ext cx="13293895" cy="5543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325" indent="-485662" lvl="1">
              <a:lnSpc>
                <a:spcPts val="6298"/>
              </a:lnSpc>
              <a:buFont typeface="Arial"/>
              <a:buChar char="•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Successfully trained a U-Net based segmentatio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ode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</a:p>
          <a:p>
            <a:pPr algn="l" marL="971325" indent="-485662" lvl="1">
              <a:lnSpc>
                <a:spcPts val="6298"/>
              </a:lnSpc>
              <a:buFont typeface="Arial"/>
              <a:buChar char="•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Achieved r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eliable subject-ba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kgr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separation</a:t>
            </a:r>
          </a:p>
          <a:p>
            <a:pPr algn="l" marL="971325" indent="-485662" lvl="1">
              <a:lnSpc>
                <a:spcPts val="6298"/>
              </a:lnSpc>
              <a:buFont typeface="Arial"/>
              <a:buChar char="•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Improved segme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tion 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accuracy through fine-tuning</a:t>
            </a:r>
          </a:p>
          <a:p>
            <a:pPr algn="l" marL="971325" indent="-485662" lvl="1">
              <a:lnSpc>
                <a:spcPts val="6299"/>
              </a:lnSpc>
              <a:buFont typeface="Arial"/>
              <a:buChar char="•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Validated performance on 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see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data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45046" y="125868"/>
            <a:ext cx="5182471" cy="112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09352" y="1122781"/>
            <a:ext cx="16253860" cy="111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CHALLENGES FACED AND SOLUTIONS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2116" y="2157794"/>
            <a:ext cx="17263768" cy="785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483" indent="-323742" lvl="1">
              <a:lnSpc>
                <a:spcPts val="4198"/>
              </a:lnSpc>
              <a:buFont typeface="Arial"/>
              <a:buChar char="•"/>
            </a:pPr>
            <a:r>
              <a:rPr lang="en-US" b="true" sz="2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 1: Boundary Inaccuracy in Segmentation</a:t>
            </a:r>
          </a:p>
          <a:p>
            <a:pPr algn="l" marL="647483" indent="-323742" lvl="1">
              <a:lnSpc>
                <a:spcPts val="4198"/>
              </a:lnSpc>
              <a:buFont typeface="Arial"/>
              <a:buChar char="•"/>
            </a:pPr>
            <a:r>
              <a:rPr lang="en-US" b="true" sz="2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Solution: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Used a c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ombine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loss func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tion (Binary Cr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oss-Entropy + Dice Loss) to improve edge p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ecision and mask o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verlap.</a:t>
            </a:r>
          </a:p>
          <a:p>
            <a:pPr algn="l">
              <a:lnSpc>
                <a:spcPts val="4198"/>
              </a:lnSpc>
            </a:pPr>
          </a:p>
          <a:p>
            <a:pPr algn="l" marL="647483" indent="-323742" lvl="1">
              <a:lnSpc>
                <a:spcPts val="4198"/>
              </a:lnSpc>
              <a:buFont typeface="Arial"/>
              <a:buChar char="•"/>
            </a:pPr>
            <a:r>
              <a:rPr lang="en-US" b="true" sz="2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 2: Noise in Background Regions</a:t>
            </a:r>
          </a:p>
          <a:p>
            <a:pPr algn="l" marL="647483" indent="-323742" lvl="1">
              <a:lnSpc>
                <a:spcPts val="4198"/>
              </a:lnSpc>
              <a:buFont typeface="Arial"/>
              <a:buChar char="•"/>
            </a:pPr>
            <a:r>
              <a:rPr lang="en-US" b="true" sz="2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Solution: 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Applied fine-tuning with a reduced learning rate to stabilize training and produce smoother masks.</a:t>
            </a:r>
          </a:p>
          <a:p>
            <a:pPr algn="l">
              <a:lnSpc>
                <a:spcPts val="4198"/>
              </a:lnSpc>
            </a:pPr>
          </a:p>
          <a:p>
            <a:pPr algn="l" marL="647483" indent="-323742" lvl="1">
              <a:lnSpc>
                <a:spcPts val="4198"/>
              </a:lnSpc>
              <a:buFont typeface="Arial"/>
              <a:buChar char="•"/>
            </a:pPr>
            <a:r>
              <a:rPr lang="en-US" b="true" sz="2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 3: Overfitting on Training Data</a:t>
            </a:r>
          </a:p>
          <a:p>
            <a:pPr algn="l" marL="647483" indent="-323742" lvl="1">
              <a:lnSpc>
                <a:spcPts val="4198"/>
              </a:lnSpc>
              <a:buFont typeface="Arial"/>
              <a:buChar char="•"/>
            </a:pPr>
            <a:r>
              <a:rPr lang="en-US" b="true" sz="2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Solution: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Monitored validation loss and evaluated performance on an unseen test dataset to ensure generalization.</a:t>
            </a:r>
          </a:p>
          <a:p>
            <a:pPr algn="l">
              <a:lnSpc>
                <a:spcPts val="4198"/>
              </a:lnSpc>
            </a:pPr>
          </a:p>
          <a:p>
            <a:pPr algn="l" marL="647483" indent="-323742" lvl="1">
              <a:lnSpc>
                <a:spcPts val="4198"/>
              </a:lnSpc>
              <a:buFont typeface="Arial"/>
              <a:buChar char="•"/>
            </a:pPr>
            <a:r>
              <a:rPr lang="en-US" b="true" sz="2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 4: Slow Learning in Initial Epochs</a:t>
            </a:r>
          </a:p>
          <a:p>
            <a:pPr algn="l" marL="647483" indent="-323742" lvl="1">
              <a:lnSpc>
                <a:spcPts val="4199"/>
              </a:lnSpc>
              <a:buFont typeface="Arial"/>
              <a:buChar char="•"/>
            </a:pPr>
            <a:r>
              <a:rPr lang="en-US" b="true" sz="299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Solution: </a:t>
            </a:r>
            <a:r>
              <a:rPr lang="en-US" sz="29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the Adam optimizer with an optimized learning rate to accelerate convergence.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45046" y="125868"/>
            <a:ext cx="5182471" cy="112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2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56009" y="1122781"/>
            <a:ext cx="5960546" cy="111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99312" y="2608873"/>
            <a:ext cx="13889375" cy="6334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325" indent="-485662" lvl="1">
              <a:lnSpc>
                <a:spcPts val="6298"/>
              </a:lnSpc>
              <a:buFont typeface="Arial"/>
              <a:buChar char="•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Milestone 2 objectives were successfully achieved</a:t>
            </a:r>
          </a:p>
          <a:p>
            <a:pPr algn="l" marL="971325" indent="-485662" lvl="1">
              <a:lnSpc>
                <a:spcPts val="6298"/>
              </a:lnSpc>
              <a:buFont typeface="Arial"/>
              <a:buChar char="•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trained model is suitable for real-w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orld inferen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</a:t>
            </a:r>
          </a:p>
          <a:p>
            <a:pPr algn="l" marL="971325" indent="-485662" lvl="1">
              <a:lnSpc>
                <a:spcPts val="6298"/>
              </a:lnSpc>
              <a:buFont typeface="Arial"/>
              <a:buChar char="•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 a strong f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dation for d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eployment and future improvements</a:t>
            </a:r>
          </a:p>
          <a:p>
            <a:pPr algn="l" marL="971325" indent="-485662" lvl="1">
              <a:lnSpc>
                <a:spcPts val="6299"/>
              </a:lnSpc>
              <a:buFont typeface="Arial"/>
              <a:buChar char="•"/>
            </a:pP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Next Steps: I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tegra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tion in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inference pipeline and UI d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evelopme</a:t>
            </a:r>
            <a:r>
              <a:rPr lang="en-US" sz="44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45046" y="125868"/>
            <a:ext cx="5182471" cy="112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MILESTONE 2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59" r="0" b="-925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98497" y="2943377"/>
            <a:ext cx="5245103" cy="1513608"/>
          </a:xfrm>
          <a:custGeom>
            <a:avLst/>
            <a:gdLst/>
            <a:ahLst/>
            <a:cxnLst/>
            <a:rect r="r" b="b" t="t" l="l"/>
            <a:pathLst>
              <a:path h="1513608" w="5245103">
                <a:moveTo>
                  <a:pt x="0" y="0"/>
                </a:moveTo>
                <a:lnTo>
                  <a:pt x="5245103" y="0"/>
                </a:lnTo>
                <a:lnTo>
                  <a:pt x="5245103" y="1513609"/>
                </a:lnTo>
                <a:lnTo>
                  <a:pt x="0" y="1513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41403" y="2943377"/>
            <a:ext cx="5118097" cy="1513608"/>
          </a:xfrm>
          <a:custGeom>
            <a:avLst/>
            <a:gdLst/>
            <a:ahLst/>
            <a:cxnLst/>
            <a:rect r="r" b="b" t="t" l="l"/>
            <a:pathLst>
              <a:path h="1513608" w="5118097">
                <a:moveTo>
                  <a:pt x="0" y="0"/>
                </a:moveTo>
                <a:lnTo>
                  <a:pt x="5118097" y="0"/>
                </a:lnTo>
                <a:lnTo>
                  <a:pt x="5118097" y="1513609"/>
                </a:lnTo>
                <a:lnTo>
                  <a:pt x="0" y="15136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33293" y="3048724"/>
            <a:ext cx="8421405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616828" y="6524777"/>
            <a:ext cx="3054353" cy="942108"/>
          </a:xfrm>
          <a:custGeom>
            <a:avLst/>
            <a:gdLst/>
            <a:ahLst/>
            <a:cxnLst/>
            <a:rect r="r" b="b" t="t" l="l"/>
            <a:pathLst>
              <a:path h="942108" w="3054353">
                <a:moveTo>
                  <a:pt x="0" y="0"/>
                </a:moveTo>
                <a:lnTo>
                  <a:pt x="3054353" y="0"/>
                </a:lnTo>
                <a:lnTo>
                  <a:pt x="3054353" y="942109"/>
                </a:lnTo>
                <a:lnTo>
                  <a:pt x="0" y="9421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DAHCuNiD8Ts</dc:identifier>
  <dcterms:modified xsi:type="dcterms:W3CDTF">2011-08-01T06:04:30Z</dcterms:modified>
  <cp:revision>1</cp:revision>
  <dc:title>ABSTRACT</dc:title>
</cp:coreProperties>
</file>